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GRAĐA MIKROUPRAVLJAČA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FEC6C82A-195E-582E-A63F-1886F8AA4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299" y="1691640"/>
            <a:ext cx="6920814" cy="46698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755"/>
                </a:solidFill>
              </a:defRPr>
            </a:pPr>
            <a:r>
              <a:t>Građa mikroupravljača – općenito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Mikroupravljač</a:t>
            </a:r>
            <a:r>
              <a:rPr sz="2400" dirty="0"/>
              <a:t> je </a:t>
            </a:r>
            <a:r>
              <a:rPr sz="2400" dirty="0" err="1"/>
              <a:t>mikroračunalo</a:t>
            </a:r>
            <a:r>
              <a:rPr sz="2400" dirty="0"/>
              <a:t> </a:t>
            </a:r>
            <a:r>
              <a:rPr sz="2400" dirty="0" err="1"/>
              <a:t>zaduženo</a:t>
            </a:r>
            <a:r>
              <a:rPr sz="2400" dirty="0"/>
              <a:t> za </a:t>
            </a:r>
            <a:r>
              <a:rPr sz="2400" dirty="0" err="1"/>
              <a:t>upravljanje</a:t>
            </a:r>
            <a:r>
              <a:rPr sz="2400" dirty="0"/>
              <a:t> </a:t>
            </a:r>
            <a:r>
              <a:rPr sz="2400" dirty="0" err="1"/>
              <a:t>i</a:t>
            </a:r>
            <a:r>
              <a:rPr sz="2400" dirty="0"/>
              <a:t> </a:t>
            </a:r>
            <a:r>
              <a:rPr sz="2400" dirty="0" err="1"/>
              <a:t>kontrolu</a:t>
            </a:r>
            <a:r>
              <a:rPr sz="2400" dirty="0"/>
              <a:t> </a:t>
            </a:r>
            <a:r>
              <a:rPr sz="2400" dirty="0" err="1"/>
              <a:t>određenih</a:t>
            </a:r>
            <a:r>
              <a:rPr sz="2400" dirty="0"/>
              <a:t> </a:t>
            </a:r>
            <a:r>
              <a:rPr sz="2400" dirty="0" err="1"/>
              <a:t>procesa</a:t>
            </a:r>
            <a:r>
              <a:rPr sz="24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Vrlo</a:t>
            </a:r>
            <a:r>
              <a:rPr sz="2400" dirty="0"/>
              <a:t> je </a:t>
            </a:r>
            <a:r>
              <a:rPr sz="2400" dirty="0" err="1"/>
              <a:t>rasprostranjena</a:t>
            </a:r>
            <a:r>
              <a:rPr sz="2400" dirty="0"/>
              <a:t> </a:t>
            </a:r>
            <a:r>
              <a:rPr sz="2400" dirty="0" err="1"/>
              <a:t>primjena</a:t>
            </a:r>
            <a:r>
              <a:rPr sz="2400" dirty="0"/>
              <a:t> u </a:t>
            </a:r>
            <a:r>
              <a:rPr sz="2400" dirty="0" err="1"/>
              <a:t>različitim</a:t>
            </a:r>
            <a:r>
              <a:rPr sz="2400" dirty="0"/>
              <a:t> </a:t>
            </a:r>
            <a:r>
              <a:rPr sz="2400" dirty="0" err="1"/>
              <a:t>uređajima</a:t>
            </a:r>
            <a:r>
              <a:rPr sz="2400" dirty="0"/>
              <a:t> </a:t>
            </a:r>
            <a:r>
              <a:rPr sz="2400" dirty="0" err="1"/>
              <a:t>i</a:t>
            </a:r>
            <a:r>
              <a:rPr sz="2400" dirty="0"/>
              <a:t> </a:t>
            </a:r>
            <a:r>
              <a:rPr sz="2400" dirty="0" err="1"/>
              <a:t>sustavima</a:t>
            </a:r>
            <a:r>
              <a:rPr sz="24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Arhitektura</a:t>
            </a:r>
            <a:r>
              <a:rPr sz="2400" dirty="0"/>
              <a:t> </a:t>
            </a:r>
            <a:r>
              <a:rPr sz="2400" dirty="0" err="1"/>
              <a:t>mikroupravljača</a:t>
            </a:r>
            <a:r>
              <a:rPr sz="2400" dirty="0"/>
              <a:t> </a:t>
            </a:r>
            <a:r>
              <a:rPr sz="2400" dirty="0" err="1"/>
              <a:t>izravno</a:t>
            </a:r>
            <a:r>
              <a:rPr sz="2400" dirty="0"/>
              <a:t> je </a:t>
            </a:r>
            <a:r>
              <a:rPr sz="2400" dirty="0" err="1"/>
              <a:t>zavisna</a:t>
            </a:r>
            <a:r>
              <a:rPr sz="2400" dirty="0"/>
              <a:t> o </a:t>
            </a:r>
            <a:r>
              <a:rPr sz="2400" dirty="0" err="1"/>
              <a:t>njegovoj</a:t>
            </a:r>
            <a:r>
              <a:rPr sz="2400" dirty="0"/>
              <a:t> </a:t>
            </a:r>
            <a:r>
              <a:rPr sz="2400" dirty="0" err="1"/>
              <a:t>primjeni</a:t>
            </a:r>
            <a:r>
              <a:rPr sz="2400" dirty="0"/>
              <a:t>.</a:t>
            </a:r>
          </a:p>
          <a:p>
            <a:pPr>
              <a:spcAft>
                <a:spcPts val="1000"/>
              </a:spcAft>
              <a:defRPr sz="1600">
                <a:solidFill>
                  <a:srgbClr val="282D32"/>
                </a:solidFill>
              </a:defRPr>
            </a:pPr>
            <a:r>
              <a:rPr sz="2400" dirty="0"/>
              <a:t>• Uz </a:t>
            </a:r>
            <a:r>
              <a:rPr sz="2400" dirty="0" err="1"/>
              <a:t>procesor</a:t>
            </a:r>
            <a:r>
              <a:rPr sz="2400" dirty="0"/>
              <a:t>, </a:t>
            </a:r>
            <a:r>
              <a:rPr sz="2400" dirty="0" err="1"/>
              <a:t>memoriju</a:t>
            </a:r>
            <a:r>
              <a:rPr sz="2400" dirty="0"/>
              <a:t>, </a:t>
            </a:r>
            <a:r>
              <a:rPr sz="2400" dirty="0" err="1"/>
              <a:t>ulaze</a:t>
            </a:r>
            <a:r>
              <a:rPr sz="2400" dirty="0"/>
              <a:t> </a:t>
            </a:r>
            <a:r>
              <a:rPr sz="2400" dirty="0" err="1"/>
              <a:t>i</a:t>
            </a:r>
            <a:r>
              <a:rPr sz="2400" dirty="0"/>
              <a:t> </a:t>
            </a:r>
            <a:r>
              <a:rPr sz="2400" dirty="0" err="1"/>
              <a:t>izlaze</a:t>
            </a:r>
            <a:r>
              <a:rPr sz="2400" dirty="0"/>
              <a:t> </a:t>
            </a:r>
            <a:r>
              <a:rPr sz="2400" dirty="0" err="1"/>
              <a:t>postoje</a:t>
            </a:r>
            <a:r>
              <a:rPr sz="2400" dirty="0"/>
              <a:t> </a:t>
            </a:r>
            <a:r>
              <a:rPr sz="2400" dirty="0" err="1"/>
              <a:t>posebne</a:t>
            </a:r>
            <a:r>
              <a:rPr sz="2400" dirty="0"/>
              <a:t> </a:t>
            </a:r>
            <a:r>
              <a:rPr sz="2400" dirty="0" err="1"/>
              <a:t>izvedbe</a:t>
            </a:r>
            <a:r>
              <a:rPr sz="2400" dirty="0"/>
              <a:t> U/I </a:t>
            </a:r>
            <a:r>
              <a:rPr sz="2400" dirty="0" err="1"/>
              <a:t>sklopova</a:t>
            </a:r>
            <a:r>
              <a:rPr sz="2400" dirty="0"/>
              <a:t>, </a:t>
            </a:r>
            <a:r>
              <a:rPr sz="2400" dirty="0" err="1"/>
              <a:t>pojačala</a:t>
            </a:r>
            <a:r>
              <a:rPr sz="2400" dirty="0"/>
              <a:t>, </a:t>
            </a:r>
            <a:r>
              <a:rPr sz="2400" dirty="0" err="1"/>
              <a:t>pretvarača</a:t>
            </a:r>
            <a:r>
              <a:rPr sz="2400" dirty="0"/>
              <a:t> </a:t>
            </a:r>
            <a:r>
              <a:rPr sz="2400" dirty="0" err="1"/>
              <a:t>i</a:t>
            </a:r>
            <a:r>
              <a:rPr sz="2400" dirty="0"/>
              <a:t> sl.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Integrirani</a:t>
            </a:r>
            <a:r>
              <a:rPr sz="2400" dirty="0"/>
              <a:t> </a:t>
            </a:r>
            <a:r>
              <a:rPr sz="2400" dirty="0" err="1"/>
              <a:t>mikroupravljači</a:t>
            </a:r>
            <a:r>
              <a:rPr sz="2400" dirty="0"/>
              <a:t> </a:t>
            </a:r>
            <a:r>
              <a:rPr sz="2400" dirty="0" err="1"/>
              <a:t>imaju</a:t>
            </a:r>
            <a:r>
              <a:rPr sz="2400" dirty="0"/>
              <a:t> </a:t>
            </a:r>
            <a:r>
              <a:rPr sz="2400" dirty="0" err="1"/>
              <a:t>sve</a:t>
            </a:r>
            <a:r>
              <a:rPr sz="2400" dirty="0"/>
              <a:t> </a:t>
            </a:r>
            <a:r>
              <a:rPr sz="2400" dirty="0" err="1"/>
              <a:t>sklopove</a:t>
            </a:r>
            <a:r>
              <a:rPr sz="2400" dirty="0"/>
              <a:t> </a:t>
            </a:r>
            <a:r>
              <a:rPr sz="2400" dirty="0" err="1"/>
              <a:t>standardizirane</a:t>
            </a:r>
            <a:r>
              <a:rPr sz="2400" dirty="0"/>
              <a:t> </a:t>
            </a:r>
            <a:r>
              <a:rPr sz="2400" dirty="0" err="1"/>
              <a:t>i</a:t>
            </a:r>
            <a:r>
              <a:rPr sz="2400" dirty="0"/>
              <a:t> </a:t>
            </a:r>
            <a:r>
              <a:rPr sz="2400" dirty="0" err="1"/>
              <a:t>izvedene</a:t>
            </a:r>
            <a:r>
              <a:rPr sz="2400" dirty="0"/>
              <a:t> u </a:t>
            </a:r>
            <a:r>
              <a:rPr sz="2400" dirty="0" err="1"/>
              <a:t>jednom</a:t>
            </a:r>
            <a:r>
              <a:rPr sz="2400" dirty="0"/>
              <a:t> </a:t>
            </a:r>
            <a:r>
              <a:rPr sz="2400" dirty="0" err="1"/>
              <a:t>čipu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Moduli mikroupravljača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t>Osnovni moduli mikroupravljača uključuju: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t>• mikroprocesor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t>• memoriju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t>• ulazno/izlazne sklopove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t>• generator takta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t>• prekidni sustav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t>• brojila i mjerače vremena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t>• watchdog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Mikroprocesor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t>• Najčešće su to 8-bitni procesori s poznatijim setom instrukcija.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t>• Mogu biti CISC ili RISC.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t>• RISC se koristi za brže mikroupravljače.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Memorija mikroupravljača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Memoriju</a:t>
            </a:r>
            <a:r>
              <a:rPr sz="3200" dirty="0"/>
              <a:t> </a:t>
            </a:r>
            <a:r>
              <a:rPr sz="3200" dirty="0" err="1"/>
              <a:t>mikroupravljača</a:t>
            </a:r>
            <a:r>
              <a:rPr sz="3200" dirty="0"/>
              <a:t> </a:t>
            </a:r>
            <a:r>
              <a:rPr sz="3200" dirty="0" err="1"/>
              <a:t>dijelimo</a:t>
            </a:r>
            <a:r>
              <a:rPr sz="3200" dirty="0"/>
              <a:t> </a:t>
            </a:r>
            <a:r>
              <a:rPr sz="3200" dirty="0" err="1"/>
              <a:t>na</a:t>
            </a:r>
            <a:r>
              <a:rPr sz="3200" dirty="0"/>
              <a:t> </a:t>
            </a:r>
            <a:r>
              <a:rPr sz="3200" dirty="0" err="1"/>
              <a:t>radnu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programsku</a:t>
            </a:r>
            <a:r>
              <a:rPr sz="3200" dirty="0"/>
              <a:t> </a:t>
            </a:r>
            <a:r>
              <a:rPr sz="3200" dirty="0" err="1"/>
              <a:t>memoriju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Programska</a:t>
            </a:r>
            <a:r>
              <a:rPr sz="3200" dirty="0"/>
              <a:t> </a:t>
            </a:r>
            <a:r>
              <a:rPr sz="3200" dirty="0" err="1"/>
              <a:t>memorija</a:t>
            </a:r>
            <a:r>
              <a:rPr sz="3200" dirty="0"/>
              <a:t> </a:t>
            </a:r>
            <a:r>
              <a:rPr sz="3200" dirty="0" err="1"/>
              <a:t>sadrži</a:t>
            </a:r>
            <a:r>
              <a:rPr sz="3200" dirty="0"/>
              <a:t> </a:t>
            </a:r>
            <a:r>
              <a:rPr sz="3200" dirty="0" err="1"/>
              <a:t>programske</a:t>
            </a:r>
            <a:r>
              <a:rPr sz="3200" dirty="0"/>
              <a:t> </a:t>
            </a:r>
            <a:r>
              <a:rPr sz="3200" dirty="0" err="1"/>
              <a:t>instrukcije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Po </a:t>
            </a:r>
            <a:r>
              <a:rPr sz="3200" dirty="0" err="1"/>
              <a:t>tipu</a:t>
            </a:r>
            <a:r>
              <a:rPr sz="3200" dirty="0"/>
              <a:t> </a:t>
            </a:r>
            <a:r>
              <a:rPr sz="3200" dirty="0" err="1"/>
              <a:t>može</a:t>
            </a:r>
            <a:r>
              <a:rPr sz="3200" dirty="0"/>
              <a:t> </a:t>
            </a:r>
            <a:r>
              <a:rPr sz="3200" dirty="0" err="1"/>
              <a:t>biti</a:t>
            </a:r>
            <a:r>
              <a:rPr sz="3200" dirty="0"/>
              <a:t> ROM, PROM, EPROM </a:t>
            </a:r>
            <a:r>
              <a:rPr sz="3200" dirty="0" err="1"/>
              <a:t>i</a:t>
            </a:r>
            <a:r>
              <a:rPr sz="3200" dirty="0"/>
              <a:t> EEPROM.</a:t>
            </a:r>
          </a:p>
          <a:p>
            <a:pPr>
              <a:spcAft>
                <a:spcPts val="1000"/>
              </a:spcAft>
              <a:defRPr sz="16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Programska</a:t>
            </a:r>
            <a:r>
              <a:rPr sz="3200" dirty="0"/>
              <a:t> </a:t>
            </a:r>
            <a:r>
              <a:rPr sz="3200" dirty="0" err="1"/>
              <a:t>memorija</a:t>
            </a:r>
            <a:r>
              <a:rPr sz="3200" dirty="0"/>
              <a:t> </a:t>
            </a:r>
            <a:r>
              <a:rPr sz="3200" dirty="0" err="1"/>
              <a:t>može</a:t>
            </a:r>
            <a:r>
              <a:rPr sz="3200" dirty="0"/>
              <a:t> </a:t>
            </a:r>
            <a:r>
              <a:rPr sz="3200" dirty="0" err="1"/>
              <a:t>biti</a:t>
            </a:r>
            <a:r>
              <a:rPr sz="3200" dirty="0"/>
              <a:t> </a:t>
            </a:r>
            <a:r>
              <a:rPr sz="3200" dirty="0" err="1"/>
              <a:t>ugrađena</a:t>
            </a:r>
            <a:r>
              <a:rPr sz="3200" dirty="0"/>
              <a:t> </a:t>
            </a:r>
            <a:r>
              <a:rPr sz="3200" dirty="0" err="1"/>
              <a:t>na</a:t>
            </a:r>
            <a:r>
              <a:rPr sz="3200" dirty="0"/>
              <a:t> </a:t>
            </a:r>
            <a:r>
              <a:rPr sz="3200" dirty="0" err="1"/>
              <a:t>samom</a:t>
            </a:r>
            <a:r>
              <a:rPr sz="3200" dirty="0"/>
              <a:t> </a:t>
            </a:r>
            <a:r>
              <a:rPr sz="3200" dirty="0" err="1"/>
              <a:t>čipu</a:t>
            </a:r>
            <a:r>
              <a:rPr sz="3200" dirty="0"/>
              <a:t> </a:t>
            </a:r>
            <a:r>
              <a:rPr sz="3200" dirty="0" err="1"/>
              <a:t>ili</a:t>
            </a:r>
            <a:r>
              <a:rPr sz="3200" dirty="0"/>
              <a:t> </a:t>
            </a:r>
            <a:r>
              <a:rPr sz="3200" dirty="0" err="1"/>
              <a:t>izvedena</a:t>
            </a:r>
            <a:r>
              <a:rPr sz="3200" dirty="0"/>
              <a:t> </a:t>
            </a:r>
            <a:r>
              <a:rPr sz="3200" dirty="0" err="1"/>
              <a:t>kao</a:t>
            </a:r>
            <a:r>
              <a:rPr sz="3200" dirty="0"/>
              <a:t> </a:t>
            </a:r>
            <a:r>
              <a:rPr sz="3200" dirty="0" err="1"/>
              <a:t>vanjska</a:t>
            </a:r>
            <a:r>
              <a:rPr sz="3200" dirty="0"/>
              <a:t>, </a:t>
            </a:r>
            <a:r>
              <a:rPr sz="3200" dirty="0" err="1"/>
              <a:t>najčešće</a:t>
            </a:r>
            <a:r>
              <a:rPr sz="3200" dirty="0"/>
              <a:t> </a:t>
            </a:r>
            <a:r>
              <a:rPr sz="3200" dirty="0" err="1"/>
              <a:t>kombinirano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Programska i radna memorija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5037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Programatorima</a:t>
            </a:r>
            <a:r>
              <a:rPr sz="3200" dirty="0"/>
              <a:t> se </a:t>
            </a:r>
            <a:r>
              <a:rPr sz="3200" dirty="0" err="1"/>
              <a:t>upisuje</a:t>
            </a:r>
            <a:r>
              <a:rPr sz="3200" dirty="0"/>
              <a:t> </a:t>
            </a:r>
            <a:r>
              <a:rPr sz="3200" dirty="0" err="1"/>
              <a:t>sadržaj</a:t>
            </a:r>
            <a:r>
              <a:rPr sz="3200" dirty="0"/>
              <a:t> u </a:t>
            </a:r>
            <a:r>
              <a:rPr sz="3200" dirty="0" err="1"/>
              <a:t>programsku</a:t>
            </a:r>
            <a:r>
              <a:rPr sz="3200" dirty="0"/>
              <a:t> </a:t>
            </a:r>
            <a:r>
              <a:rPr sz="3200" dirty="0" err="1"/>
              <a:t>memoriju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Programska</a:t>
            </a:r>
            <a:r>
              <a:rPr sz="3200" dirty="0"/>
              <a:t> </a:t>
            </a:r>
            <a:r>
              <a:rPr sz="3200" dirty="0" err="1"/>
              <a:t>memorija</a:t>
            </a:r>
            <a:r>
              <a:rPr sz="3200" dirty="0"/>
              <a:t> </a:t>
            </a:r>
            <a:r>
              <a:rPr sz="3200" dirty="0" err="1"/>
              <a:t>štiti</a:t>
            </a:r>
            <a:r>
              <a:rPr sz="3200" dirty="0"/>
              <a:t> </a:t>
            </a:r>
            <a:r>
              <a:rPr sz="3200" dirty="0" err="1"/>
              <a:t>programski</a:t>
            </a:r>
            <a:r>
              <a:rPr sz="3200" dirty="0"/>
              <a:t> </a:t>
            </a:r>
            <a:r>
              <a:rPr sz="3200" dirty="0" err="1"/>
              <a:t>kod</a:t>
            </a:r>
            <a:r>
              <a:rPr sz="3200" dirty="0"/>
              <a:t> od </a:t>
            </a:r>
            <a:r>
              <a:rPr sz="3200" dirty="0" err="1"/>
              <a:t>neovlaštenog</a:t>
            </a:r>
            <a:r>
              <a:rPr sz="3200" dirty="0"/>
              <a:t> </a:t>
            </a:r>
            <a:r>
              <a:rPr sz="3200" dirty="0" err="1"/>
              <a:t>čitanja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Radna</a:t>
            </a:r>
            <a:r>
              <a:rPr sz="3200" dirty="0"/>
              <a:t> </a:t>
            </a:r>
            <a:r>
              <a:rPr sz="3200" dirty="0" err="1"/>
              <a:t>memorija</a:t>
            </a:r>
            <a:r>
              <a:rPr sz="3200" dirty="0"/>
              <a:t> je </a:t>
            </a:r>
            <a:r>
              <a:rPr sz="3200" dirty="0" err="1"/>
              <a:t>tipa</a:t>
            </a:r>
            <a:r>
              <a:rPr sz="3200" dirty="0"/>
              <a:t> RAM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koristi</a:t>
            </a:r>
            <a:r>
              <a:rPr sz="3200" dirty="0"/>
              <a:t> se za </a:t>
            </a:r>
            <a:r>
              <a:rPr sz="3200" dirty="0" err="1"/>
              <a:t>rukovanje</a:t>
            </a:r>
            <a:r>
              <a:rPr sz="3200" dirty="0"/>
              <a:t>, </a:t>
            </a:r>
            <a:r>
              <a:rPr sz="3200" dirty="0" err="1"/>
              <a:t>čuvanje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prikupljanje</a:t>
            </a:r>
            <a:r>
              <a:rPr sz="3200" dirty="0"/>
              <a:t> </a:t>
            </a:r>
            <a:r>
              <a:rPr sz="3200" dirty="0" err="1"/>
              <a:t>podataka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Kapacitet</a:t>
            </a:r>
            <a:r>
              <a:rPr sz="3200" dirty="0"/>
              <a:t> RAM-a </a:t>
            </a:r>
            <a:r>
              <a:rPr sz="3200" dirty="0" err="1"/>
              <a:t>nije</a:t>
            </a:r>
            <a:r>
              <a:rPr sz="3200" dirty="0"/>
              <a:t> </a:t>
            </a:r>
            <a:r>
              <a:rPr sz="3200" dirty="0" err="1"/>
              <a:t>velik</a:t>
            </a:r>
            <a:r>
              <a:rPr sz="3200" dirty="0"/>
              <a:t>, </a:t>
            </a:r>
            <a:r>
              <a:rPr sz="3200" dirty="0" err="1"/>
              <a:t>ali</a:t>
            </a:r>
            <a:r>
              <a:rPr sz="3200" dirty="0"/>
              <a:t> je </a:t>
            </a:r>
            <a:r>
              <a:rPr sz="3200" dirty="0" err="1"/>
              <a:t>moguće</a:t>
            </a:r>
            <a:r>
              <a:rPr sz="3200" dirty="0"/>
              <a:t> </a:t>
            </a:r>
            <a:r>
              <a:rPr sz="3200" dirty="0" err="1"/>
              <a:t>vanjsko</a:t>
            </a:r>
            <a:r>
              <a:rPr sz="3200" dirty="0"/>
              <a:t> </a:t>
            </a:r>
            <a:r>
              <a:rPr sz="3200" dirty="0" err="1"/>
              <a:t>proširivanje</a:t>
            </a:r>
            <a:r>
              <a:rPr sz="3200" dirty="0"/>
              <a:t> do 64k.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Sastavni</a:t>
            </a:r>
            <a:r>
              <a:rPr sz="3200" dirty="0"/>
              <a:t> </a:t>
            </a:r>
            <a:r>
              <a:rPr sz="3200" dirty="0" err="1"/>
              <a:t>dio</a:t>
            </a:r>
            <a:r>
              <a:rPr sz="3200" dirty="0"/>
              <a:t> </a:t>
            </a:r>
            <a:r>
              <a:rPr sz="3200" dirty="0" err="1"/>
              <a:t>radne</a:t>
            </a:r>
            <a:r>
              <a:rPr sz="3200" dirty="0"/>
              <a:t> </a:t>
            </a:r>
            <a:r>
              <a:rPr sz="3200" dirty="0" err="1"/>
              <a:t>memorije</a:t>
            </a:r>
            <a:r>
              <a:rPr sz="3200" dirty="0"/>
              <a:t> </a:t>
            </a:r>
            <a:r>
              <a:rPr sz="3200" dirty="0" err="1"/>
              <a:t>mogu</a:t>
            </a:r>
            <a:r>
              <a:rPr sz="3200" dirty="0"/>
              <a:t> </a:t>
            </a:r>
            <a:r>
              <a:rPr sz="3200" dirty="0" err="1"/>
              <a:t>biti</a:t>
            </a:r>
            <a:r>
              <a:rPr sz="3200" dirty="0"/>
              <a:t> </a:t>
            </a:r>
            <a:r>
              <a:rPr sz="3200" dirty="0" err="1"/>
              <a:t>pojedini</a:t>
            </a:r>
            <a:r>
              <a:rPr sz="3200" dirty="0"/>
              <a:t> </a:t>
            </a:r>
            <a:r>
              <a:rPr sz="3200" dirty="0" err="1"/>
              <a:t>registri</a:t>
            </a:r>
            <a:r>
              <a:rPr sz="3200" dirty="0"/>
              <a:t> </a:t>
            </a:r>
            <a:r>
              <a:rPr sz="3200" dirty="0" err="1"/>
              <a:t>procesora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Ulazno/izlazni sklopovi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Sklopovi</a:t>
            </a:r>
            <a:r>
              <a:rPr sz="3200" dirty="0"/>
              <a:t> za </a:t>
            </a:r>
            <a:r>
              <a:rPr sz="3200" dirty="0" err="1"/>
              <a:t>paralelni</a:t>
            </a:r>
            <a:r>
              <a:rPr sz="3200" dirty="0"/>
              <a:t> </a:t>
            </a:r>
            <a:r>
              <a:rPr sz="3200" dirty="0" err="1"/>
              <a:t>ulaz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izlaz</a:t>
            </a:r>
            <a:r>
              <a:rPr sz="3200" dirty="0"/>
              <a:t> </a:t>
            </a:r>
            <a:r>
              <a:rPr sz="3200" dirty="0" err="1"/>
              <a:t>podataka</a:t>
            </a:r>
            <a:r>
              <a:rPr sz="3200" dirty="0"/>
              <a:t> </a:t>
            </a:r>
            <a:r>
              <a:rPr sz="3200" dirty="0" err="1"/>
              <a:t>sastavni</a:t>
            </a:r>
            <a:r>
              <a:rPr sz="3200" dirty="0"/>
              <a:t> </a:t>
            </a:r>
            <a:r>
              <a:rPr sz="3200" dirty="0" err="1"/>
              <a:t>su</a:t>
            </a:r>
            <a:r>
              <a:rPr sz="3200" dirty="0"/>
              <a:t> </a:t>
            </a:r>
            <a:r>
              <a:rPr sz="3200" dirty="0" err="1"/>
              <a:t>dio</a:t>
            </a:r>
            <a:r>
              <a:rPr sz="3200" dirty="0"/>
              <a:t> </a:t>
            </a:r>
            <a:r>
              <a:rPr sz="3200" dirty="0" err="1"/>
              <a:t>svakog</a:t>
            </a:r>
            <a:r>
              <a:rPr sz="3200" dirty="0"/>
              <a:t> </a:t>
            </a:r>
            <a:r>
              <a:rPr sz="3200" dirty="0" err="1"/>
              <a:t>mikroupravljača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Izvodi</a:t>
            </a:r>
            <a:r>
              <a:rPr sz="3200" dirty="0"/>
              <a:t> </a:t>
            </a:r>
            <a:r>
              <a:rPr sz="3200" dirty="0" err="1"/>
              <a:t>mogu</a:t>
            </a:r>
            <a:r>
              <a:rPr sz="3200" dirty="0"/>
              <a:t> </a:t>
            </a:r>
            <a:r>
              <a:rPr sz="3200" dirty="0" err="1"/>
              <a:t>biti</a:t>
            </a:r>
            <a:r>
              <a:rPr sz="3200" dirty="0"/>
              <a:t> </a:t>
            </a:r>
            <a:r>
              <a:rPr sz="3200" dirty="0" err="1"/>
              <a:t>definirani</a:t>
            </a:r>
            <a:r>
              <a:rPr sz="3200" dirty="0"/>
              <a:t> </a:t>
            </a:r>
            <a:r>
              <a:rPr sz="3200" dirty="0" err="1"/>
              <a:t>kao</a:t>
            </a:r>
            <a:r>
              <a:rPr sz="3200" dirty="0"/>
              <a:t> </a:t>
            </a:r>
            <a:r>
              <a:rPr sz="3200" dirty="0" err="1"/>
              <a:t>ulazni</a:t>
            </a:r>
            <a:r>
              <a:rPr sz="3200" dirty="0"/>
              <a:t> </a:t>
            </a:r>
            <a:r>
              <a:rPr sz="3200" dirty="0" err="1"/>
              <a:t>ili</a:t>
            </a:r>
            <a:r>
              <a:rPr sz="3200" dirty="0"/>
              <a:t> </a:t>
            </a:r>
            <a:r>
              <a:rPr sz="3200" dirty="0" err="1"/>
              <a:t>izlazni</a:t>
            </a:r>
            <a:r>
              <a:rPr sz="3200" dirty="0"/>
              <a:t> </a:t>
            </a:r>
            <a:r>
              <a:rPr sz="3200" dirty="0" err="1"/>
              <a:t>preko</a:t>
            </a:r>
            <a:r>
              <a:rPr sz="3200" dirty="0"/>
              <a:t> </a:t>
            </a:r>
            <a:r>
              <a:rPr sz="3200" dirty="0" err="1"/>
              <a:t>odgovarajućih</a:t>
            </a:r>
            <a:r>
              <a:rPr sz="3200" dirty="0"/>
              <a:t> </a:t>
            </a:r>
            <a:r>
              <a:rPr sz="3200" dirty="0" err="1"/>
              <a:t>registara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U/I </a:t>
            </a:r>
            <a:r>
              <a:rPr sz="3200" dirty="0" err="1"/>
              <a:t>izvodi</a:t>
            </a:r>
            <a:r>
              <a:rPr sz="3200" dirty="0"/>
              <a:t> </a:t>
            </a:r>
            <a:r>
              <a:rPr sz="3200" dirty="0" err="1"/>
              <a:t>mogu</a:t>
            </a:r>
            <a:r>
              <a:rPr sz="3200" dirty="0"/>
              <a:t> </a:t>
            </a:r>
            <a:r>
              <a:rPr sz="3200" dirty="0" err="1"/>
              <a:t>služiti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za </a:t>
            </a:r>
            <a:r>
              <a:rPr sz="3200" dirty="0" err="1"/>
              <a:t>proširenje</a:t>
            </a:r>
            <a:r>
              <a:rPr sz="3200" dirty="0"/>
              <a:t> </a:t>
            </a:r>
            <a:r>
              <a:rPr sz="3200" dirty="0" err="1"/>
              <a:t>memorije</a:t>
            </a:r>
            <a:r>
              <a:rPr sz="3200" dirty="0"/>
              <a:t>, </a:t>
            </a:r>
            <a:r>
              <a:rPr sz="3200" dirty="0" err="1"/>
              <a:t>kontrolu</a:t>
            </a:r>
            <a:r>
              <a:rPr sz="3200" dirty="0"/>
              <a:t> </a:t>
            </a:r>
            <a:r>
              <a:rPr sz="3200" dirty="0" err="1"/>
              <a:t>prekida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sl.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Pristup</a:t>
            </a:r>
            <a:r>
              <a:rPr sz="3200" dirty="0"/>
              <a:t> </a:t>
            </a:r>
            <a:r>
              <a:rPr sz="3200" dirty="0" err="1"/>
              <a:t>ulazima</a:t>
            </a:r>
            <a:r>
              <a:rPr sz="3200" dirty="0"/>
              <a:t> </a:t>
            </a:r>
            <a:r>
              <a:rPr sz="3200" dirty="0" err="1"/>
              <a:t>ili</a:t>
            </a:r>
            <a:r>
              <a:rPr sz="3200" dirty="0"/>
              <a:t> </a:t>
            </a:r>
            <a:r>
              <a:rPr sz="3200" dirty="0" err="1"/>
              <a:t>izlazima</a:t>
            </a:r>
            <a:r>
              <a:rPr sz="3200" dirty="0"/>
              <a:t> </a:t>
            </a:r>
            <a:r>
              <a:rPr sz="3200" dirty="0" err="1"/>
              <a:t>obavlja</a:t>
            </a:r>
            <a:r>
              <a:rPr sz="3200" dirty="0"/>
              <a:t> se </a:t>
            </a:r>
            <a:r>
              <a:rPr sz="3200" dirty="0" err="1"/>
              <a:t>preko</a:t>
            </a:r>
            <a:r>
              <a:rPr sz="3200" dirty="0"/>
              <a:t> </a:t>
            </a:r>
            <a:r>
              <a:rPr sz="3200" dirty="0" err="1"/>
              <a:t>predviđenih</a:t>
            </a:r>
            <a:r>
              <a:rPr sz="3200" dirty="0"/>
              <a:t> </a:t>
            </a:r>
            <a:r>
              <a:rPr sz="3200" dirty="0" err="1"/>
              <a:t>registara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Generator takta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U </a:t>
            </a:r>
            <a:r>
              <a:rPr sz="3200" dirty="0" err="1"/>
              <a:t>sve</a:t>
            </a:r>
            <a:r>
              <a:rPr sz="3200" dirty="0"/>
              <a:t> </a:t>
            </a:r>
            <a:r>
              <a:rPr sz="3200" dirty="0" err="1"/>
              <a:t>mikroupravljače</a:t>
            </a:r>
            <a:r>
              <a:rPr sz="3200" dirty="0"/>
              <a:t> </a:t>
            </a:r>
            <a:r>
              <a:rPr sz="3200" dirty="0" err="1"/>
              <a:t>standardno</a:t>
            </a:r>
            <a:r>
              <a:rPr sz="3200" dirty="0"/>
              <a:t> se </a:t>
            </a:r>
            <a:r>
              <a:rPr sz="3200" dirty="0" err="1"/>
              <a:t>ugrađuje</a:t>
            </a:r>
            <a:r>
              <a:rPr sz="3200" dirty="0"/>
              <a:t> generator </a:t>
            </a:r>
            <a:r>
              <a:rPr sz="3200" dirty="0" err="1"/>
              <a:t>takta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6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lang="hr-HR" sz="3200" dirty="0"/>
              <a:t>Za</a:t>
            </a:r>
            <a:r>
              <a:rPr sz="3200" dirty="0"/>
              <a:t> </a:t>
            </a:r>
            <a:r>
              <a:rPr sz="3200" dirty="0" err="1"/>
              <a:t>stabilnu</a:t>
            </a:r>
            <a:r>
              <a:rPr sz="3200" dirty="0"/>
              <a:t> </a:t>
            </a:r>
            <a:r>
              <a:rPr sz="3200" dirty="0" err="1"/>
              <a:t>frekvenciju</a:t>
            </a:r>
            <a:r>
              <a:rPr sz="3200" dirty="0"/>
              <a:t> </a:t>
            </a:r>
            <a:r>
              <a:rPr sz="3200" dirty="0" err="1"/>
              <a:t>dodaje</a:t>
            </a:r>
            <a:r>
              <a:rPr sz="3200" dirty="0"/>
              <a:t> se </a:t>
            </a:r>
            <a:r>
              <a:rPr sz="3200" dirty="0" err="1"/>
              <a:t>nekoliko</a:t>
            </a:r>
            <a:r>
              <a:rPr sz="3200" dirty="0"/>
              <a:t> </a:t>
            </a:r>
            <a:r>
              <a:rPr sz="3200" dirty="0" err="1"/>
              <a:t>diskretnih</a:t>
            </a:r>
            <a:r>
              <a:rPr sz="3200" dirty="0"/>
              <a:t> </a:t>
            </a:r>
            <a:r>
              <a:rPr sz="3200" dirty="0" err="1"/>
              <a:t>komponenti</a:t>
            </a:r>
            <a:r>
              <a:rPr sz="3200" dirty="0"/>
              <a:t>; </a:t>
            </a:r>
            <a:r>
              <a:rPr sz="3200" dirty="0" err="1"/>
              <a:t>ponekad</a:t>
            </a:r>
            <a:r>
              <a:rPr sz="3200" dirty="0"/>
              <a:t> je </a:t>
            </a:r>
            <a:r>
              <a:rPr sz="3200" dirty="0" err="1"/>
              <a:t>dovoljna</a:t>
            </a:r>
            <a:r>
              <a:rPr sz="3200" dirty="0"/>
              <a:t> RC </a:t>
            </a:r>
            <a:r>
              <a:rPr sz="3200" dirty="0" err="1"/>
              <a:t>kombinacija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Takt se </a:t>
            </a:r>
            <a:r>
              <a:rPr sz="3200" dirty="0" err="1"/>
              <a:t>može</a:t>
            </a:r>
            <a:r>
              <a:rPr sz="3200" dirty="0"/>
              <a:t> </a:t>
            </a:r>
            <a:r>
              <a:rPr sz="3200" dirty="0" err="1"/>
              <a:t>dovesti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preko</a:t>
            </a:r>
            <a:r>
              <a:rPr sz="3200" dirty="0"/>
              <a:t> </a:t>
            </a:r>
            <a:r>
              <a:rPr sz="3200" dirty="0" err="1"/>
              <a:t>posebnog</a:t>
            </a:r>
            <a:r>
              <a:rPr sz="3200" dirty="0"/>
              <a:t> </a:t>
            </a:r>
            <a:r>
              <a:rPr sz="3200" dirty="0" err="1"/>
              <a:t>ulaza</a:t>
            </a:r>
            <a:r>
              <a:rPr sz="3200" dirty="0"/>
              <a:t>, </a:t>
            </a:r>
            <a:r>
              <a:rPr sz="3200" dirty="0" err="1"/>
              <a:t>ako</a:t>
            </a:r>
            <a:r>
              <a:rPr sz="3200" dirty="0"/>
              <a:t> je </a:t>
            </a:r>
            <a:r>
              <a:rPr sz="3200" dirty="0" err="1"/>
              <a:t>generiran</a:t>
            </a:r>
            <a:r>
              <a:rPr sz="3200" dirty="0"/>
              <a:t> </a:t>
            </a:r>
            <a:r>
              <a:rPr sz="3200" dirty="0" err="1"/>
              <a:t>izvana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Prekidni sustav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5037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Sustav</a:t>
            </a:r>
            <a:r>
              <a:rPr sz="3200" dirty="0"/>
              <a:t> </a:t>
            </a:r>
            <a:r>
              <a:rPr sz="3200" dirty="0" err="1"/>
              <a:t>nadzire</a:t>
            </a:r>
            <a:r>
              <a:rPr sz="3200" dirty="0"/>
              <a:t> </a:t>
            </a:r>
            <a:r>
              <a:rPr sz="3200" dirty="0" err="1"/>
              <a:t>sve</a:t>
            </a:r>
            <a:r>
              <a:rPr sz="3200" dirty="0"/>
              <a:t> </a:t>
            </a:r>
            <a:r>
              <a:rPr sz="3200" dirty="0" err="1"/>
              <a:t>izvore</a:t>
            </a:r>
            <a:r>
              <a:rPr sz="3200" dirty="0"/>
              <a:t> </a:t>
            </a:r>
            <a:r>
              <a:rPr sz="3200" dirty="0" err="1"/>
              <a:t>interrupta</a:t>
            </a:r>
            <a:r>
              <a:rPr sz="3200" dirty="0"/>
              <a:t> (</a:t>
            </a:r>
            <a:r>
              <a:rPr sz="3200" dirty="0" err="1"/>
              <a:t>prekida</a:t>
            </a:r>
            <a:r>
              <a:rPr sz="3200" dirty="0"/>
              <a:t> rada), </a:t>
            </a:r>
            <a:r>
              <a:rPr sz="3200" dirty="0" err="1"/>
              <a:t>vanjske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unutrašnje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Prekidi</a:t>
            </a:r>
            <a:r>
              <a:rPr sz="3200" dirty="0"/>
              <a:t> se </a:t>
            </a:r>
            <a:r>
              <a:rPr sz="3200" dirty="0" err="1"/>
              <a:t>dijele</a:t>
            </a:r>
            <a:r>
              <a:rPr sz="3200" dirty="0"/>
              <a:t> </a:t>
            </a:r>
            <a:r>
              <a:rPr sz="3200" dirty="0" err="1"/>
              <a:t>na</a:t>
            </a:r>
            <a:r>
              <a:rPr sz="3200" dirty="0"/>
              <a:t> </a:t>
            </a:r>
            <a:r>
              <a:rPr sz="3200" dirty="0" err="1"/>
              <a:t>maskirane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nemaskirane</a:t>
            </a:r>
            <a:r>
              <a:rPr sz="3200" dirty="0"/>
              <a:t> </a:t>
            </a:r>
            <a:r>
              <a:rPr sz="3200" dirty="0" err="1"/>
              <a:t>te</a:t>
            </a:r>
            <a:r>
              <a:rPr sz="3200" dirty="0"/>
              <a:t> se </a:t>
            </a:r>
            <a:r>
              <a:rPr sz="3200" dirty="0" err="1"/>
              <a:t>razlikuju</a:t>
            </a:r>
            <a:r>
              <a:rPr sz="3200" dirty="0"/>
              <a:t> po </a:t>
            </a:r>
            <a:r>
              <a:rPr sz="3200" dirty="0" err="1"/>
              <a:t>prioritetu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Prekidna</a:t>
            </a:r>
            <a:r>
              <a:rPr sz="3200" dirty="0"/>
              <a:t> </a:t>
            </a:r>
            <a:r>
              <a:rPr sz="3200" dirty="0" err="1"/>
              <a:t>maska</a:t>
            </a:r>
            <a:r>
              <a:rPr sz="3200" dirty="0"/>
              <a:t> </a:t>
            </a:r>
            <a:r>
              <a:rPr sz="3200" dirty="0" err="1"/>
              <a:t>može</a:t>
            </a:r>
            <a:r>
              <a:rPr sz="3200" dirty="0"/>
              <a:t> </a:t>
            </a:r>
            <a:r>
              <a:rPr sz="3200" dirty="0" err="1"/>
              <a:t>onemogućiti</a:t>
            </a:r>
            <a:r>
              <a:rPr sz="3200" dirty="0"/>
              <a:t> </a:t>
            </a:r>
            <a:r>
              <a:rPr sz="3200" dirty="0" err="1"/>
              <a:t>prekid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Vanjski</a:t>
            </a:r>
            <a:r>
              <a:rPr sz="3200" dirty="0"/>
              <a:t> </a:t>
            </a:r>
            <a:r>
              <a:rPr sz="3200" dirty="0" err="1"/>
              <a:t>prekidi</a:t>
            </a:r>
            <a:r>
              <a:rPr sz="3200" dirty="0"/>
              <a:t> </a:t>
            </a:r>
            <a:r>
              <a:rPr sz="3200" dirty="0" err="1"/>
              <a:t>nisu</a:t>
            </a:r>
            <a:r>
              <a:rPr sz="3200" dirty="0"/>
              <a:t> </a:t>
            </a:r>
            <a:r>
              <a:rPr sz="3200" dirty="0" err="1"/>
              <a:t>predviđeni</a:t>
            </a:r>
            <a:r>
              <a:rPr sz="3200" dirty="0"/>
              <a:t> za </a:t>
            </a:r>
            <a:r>
              <a:rPr sz="3200" dirty="0" err="1"/>
              <a:t>posebne</a:t>
            </a:r>
            <a:r>
              <a:rPr sz="3200" dirty="0"/>
              <a:t> </a:t>
            </a:r>
            <a:r>
              <a:rPr sz="3200" dirty="0" err="1"/>
              <a:t>namjene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o </a:t>
            </a:r>
            <a:r>
              <a:rPr sz="3200" dirty="0" err="1"/>
              <a:t>njima</a:t>
            </a:r>
            <a:r>
              <a:rPr sz="3200" dirty="0"/>
              <a:t> </a:t>
            </a:r>
            <a:r>
              <a:rPr sz="3200" dirty="0" err="1"/>
              <a:t>odlučuje</a:t>
            </a:r>
            <a:r>
              <a:rPr sz="3200" dirty="0"/>
              <a:t> </a:t>
            </a:r>
            <a:r>
              <a:rPr sz="3200" dirty="0" err="1"/>
              <a:t>korisnik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Unutrašnji</a:t>
            </a:r>
            <a:r>
              <a:rPr sz="3200" dirty="0"/>
              <a:t> se </a:t>
            </a:r>
            <a:r>
              <a:rPr sz="3200" dirty="0" err="1"/>
              <a:t>uglavnom</a:t>
            </a:r>
            <a:r>
              <a:rPr sz="3200" dirty="0"/>
              <a:t> </a:t>
            </a:r>
            <a:r>
              <a:rPr sz="3200" dirty="0" err="1"/>
              <a:t>koriste</a:t>
            </a:r>
            <a:r>
              <a:rPr sz="3200" dirty="0"/>
              <a:t> za </a:t>
            </a:r>
            <a:r>
              <a:rPr sz="3200" dirty="0" err="1"/>
              <a:t>usklađivanje</a:t>
            </a:r>
            <a:r>
              <a:rPr sz="3200" dirty="0"/>
              <a:t> </a:t>
            </a:r>
            <a:r>
              <a:rPr sz="3200" dirty="0" err="1"/>
              <a:t>izvršenja</a:t>
            </a:r>
            <a:r>
              <a:rPr sz="3200" dirty="0"/>
              <a:t> </a:t>
            </a:r>
            <a:r>
              <a:rPr sz="3200" dirty="0" err="1"/>
              <a:t>tekućeg</a:t>
            </a:r>
            <a:r>
              <a:rPr sz="3200" dirty="0"/>
              <a:t> </a:t>
            </a:r>
            <a:r>
              <a:rPr sz="3200" dirty="0" err="1"/>
              <a:t>programa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Brojila i mjerači vremena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Sklopovi</a:t>
            </a:r>
            <a:r>
              <a:rPr sz="3200" dirty="0"/>
              <a:t> </a:t>
            </a:r>
            <a:r>
              <a:rPr sz="3200" dirty="0" err="1"/>
              <a:t>služe</a:t>
            </a:r>
            <a:r>
              <a:rPr sz="3200" dirty="0"/>
              <a:t> za </a:t>
            </a:r>
            <a:r>
              <a:rPr sz="3200" dirty="0" err="1"/>
              <a:t>različito</a:t>
            </a:r>
            <a:r>
              <a:rPr sz="3200" dirty="0"/>
              <a:t> </a:t>
            </a:r>
            <a:r>
              <a:rPr sz="3200" dirty="0" err="1"/>
              <a:t>mjerenje</a:t>
            </a:r>
            <a:r>
              <a:rPr sz="3200" dirty="0"/>
              <a:t> </a:t>
            </a:r>
            <a:r>
              <a:rPr sz="3200" dirty="0" err="1"/>
              <a:t>vremena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Mogu</a:t>
            </a:r>
            <a:r>
              <a:rPr sz="3200" dirty="0"/>
              <a:t> </a:t>
            </a:r>
            <a:r>
              <a:rPr sz="3200" dirty="0" err="1"/>
              <a:t>prebrojavati</a:t>
            </a:r>
            <a:r>
              <a:rPr sz="3200" dirty="0"/>
              <a:t> impulse.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Mogu</a:t>
            </a:r>
            <a:r>
              <a:rPr sz="3200" dirty="0"/>
              <a:t> </a:t>
            </a:r>
            <a:r>
              <a:rPr sz="3200" dirty="0" err="1"/>
              <a:t>generirati</a:t>
            </a:r>
            <a:r>
              <a:rPr sz="3200" dirty="0"/>
              <a:t> </a:t>
            </a:r>
            <a:r>
              <a:rPr sz="3200" dirty="0" err="1"/>
              <a:t>potrebne</a:t>
            </a:r>
            <a:r>
              <a:rPr sz="3200" dirty="0"/>
              <a:t> </a:t>
            </a:r>
            <a:r>
              <a:rPr sz="3200" dirty="0" err="1"/>
              <a:t>signale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Programibilni</a:t>
            </a:r>
            <a:r>
              <a:rPr sz="3200" dirty="0"/>
              <a:t> </a:t>
            </a:r>
            <a:r>
              <a:rPr sz="3200" dirty="0" err="1"/>
              <a:t>su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mogu</a:t>
            </a:r>
            <a:r>
              <a:rPr sz="3200" dirty="0"/>
              <a:t> </a:t>
            </a:r>
            <a:r>
              <a:rPr sz="3200" dirty="0" err="1"/>
              <a:t>raditi</a:t>
            </a:r>
            <a:r>
              <a:rPr sz="3200" dirty="0"/>
              <a:t> </a:t>
            </a:r>
            <a:r>
              <a:rPr sz="3200" dirty="0" err="1"/>
              <a:t>na</a:t>
            </a:r>
            <a:r>
              <a:rPr sz="3200" dirty="0"/>
              <a:t> </a:t>
            </a:r>
            <a:r>
              <a:rPr sz="3200" dirty="0" err="1"/>
              <a:t>više</a:t>
            </a:r>
            <a:r>
              <a:rPr sz="3200" dirty="0"/>
              <a:t> </a:t>
            </a:r>
            <a:r>
              <a:rPr sz="3200" dirty="0" err="1"/>
              <a:t>načina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Watchdog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Watchdog je </a:t>
            </a:r>
            <a:r>
              <a:rPr sz="3200" dirty="0" err="1"/>
              <a:t>posebno</a:t>
            </a:r>
            <a:r>
              <a:rPr sz="3200" dirty="0"/>
              <a:t> </a:t>
            </a:r>
            <a:r>
              <a:rPr sz="3200" dirty="0" err="1"/>
              <a:t>brojilo</a:t>
            </a:r>
            <a:r>
              <a:rPr sz="3200" dirty="0"/>
              <a:t> za </a:t>
            </a:r>
            <a:r>
              <a:rPr sz="3200" dirty="0" err="1"/>
              <a:t>praćenje</a:t>
            </a:r>
            <a:r>
              <a:rPr sz="3200" dirty="0"/>
              <a:t> rada </a:t>
            </a:r>
            <a:r>
              <a:rPr sz="3200" dirty="0" err="1"/>
              <a:t>mikroupravljača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Sadržaj</a:t>
            </a:r>
            <a:r>
              <a:rPr sz="3200" dirty="0"/>
              <a:t> </a:t>
            </a:r>
            <a:r>
              <a:rPr sz="3200" dirty="0" err="1"/>
              <a:t>brojila</a:t>
            </a:r>
            <a:r>
              <a:rPr sz="3200" dirty="0"/>
              <a:t> se </a:t>
            </a:r>
            <a:r>
              <a:rPr sz="3200" dirty="0" err="1"/>
              <a:t>povećava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Ispravan</a:t>
            </a:r>
            <a:r>
              <a:rPr sz="3200" dirty="0"/>
              <a:t> </a:t>
            </a:r>
            <a:r>
              <a:rPr sz="3200" dirty="0" err="1"/>
              <a:t>način</a:t>
            </a:r>
            <a:r>
              <a:rPr sz="3200" dirty="0"/>
              <a:t> rada </a:t>
            </a:r>
            <a:r>
              <a:rPr sz="3200" dirty="0" err="1"/>
              <a:t>vraća</a:t>
            </a:r>
            <a:r>
              <a:rPr sz="3200" dirty="0"/>
              <a:t> </a:t>
            </a:r>
            <a:r>
              <a:rPr sz="3200" dirty="0" err="1"/>
              <a:t>brojilo</a:t>
            </a:r>
            <a:r>
              <a:rPr sz="3200" dirty="0"/>
              <a:t> </a:t>
            </a:r>
            <a:r>
              <a:rPr sz="3200" dirty="0" err="1"/>
              <a:t>na</a:t>
            </a:r>
            <a:r>
              <a:rPr sz="3200" dirty="0"/>
              <a:t> </a:t>
            </a:r>
            <a:r>
              <a:rPr sz="3200" dirty="0" err="1"/>
              <a:t>početnu</a:t>
            </a:r>
            <a:r>
              <a:rPr sz="3200" dirty="0"/>
              <a:t> </a:t>
            </a:r>
            <a:r>
              <a:rPr sz="3200" dirty="0" err="1"/>
              <a:t>vrijednost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• Ako </a:t>
            </a:r>
            <a:r>
              <a:rPr sz="3200" dirty="0" err="1"/>
              <a:t>mikroupravljač</a:t>
            </a:r>
            <a:r>
              <a:rPr sz="3200" dirty="0"/>
              <a:t> </a:t>
            </a:r>
            <a:r>
              <a:rPr sz="3200" dirty="0" err="1"/>
              <a:t>radi</a:t>
            </a:r>
            <a:r>
              <a:rPr sz="3200" dirty="0"/>
              <a:t> </a:t>
            </a:r>
            <a:r>
              <a:rPr sz="3200" dirty="0" err="1"/>
              <a:t>nepravilno</a:t>
            </a:r>
            <a:r>
              <a:rPr sz="3200" dirty="0"/>
              <a:t>, </a:t>
            </a:r>
            <a:r>
              <a:rPr sz="3200" dirty="0" err="1"/>
              <a:t>brojilo</a:t>
            </a:r>
            <a:r>
              <a:rPr sz="3200" dirty="0"/>
              <a:t> </a:t>
            </a:r>
            <a:r>
              <a:rPr sz="3200" dirty="0" err="1"/>
              <a:t>raste</a:t>
            </a:r>
            <a:r>
              <a:rPr lang="hr-HR" sz="3200" dirty="0"/>
              <a:t> </a:t>
            </a:r>
            <a:r>
              <a:rPr lang="hr-HR" sz="3200" dirty="0">
                <a:sym typeface="Wingdings" panose="05000000000000000000" pitchFamily="2" charset="2"/>
              </a:rPr>
              <a:t> k</a:t>
            </a:r>
            <a:r>
              <a:rPr sz="3200" dirty="0" err="1"/>
              <a:t>ada</a:t>
            </a:r>
            <a:r>
              <a:rPr sz="3200" dirty="0"/>
              <a:t> </a:t>
            </a:r>
            <a:r>
              <a:rPr sz="3200" dirty="0" err="1"/>
              <a:t>dosegne</a:t>
            </a:r>
            <a:r>
              <a:rPr sz="3200" dirty="0"/>
              <a:t> </a:t>
            </a:r>
            <a:r>
              <a:rPr sz="3200" dirty="0" err="1"/>
              <a:t>određenu</a:t>
            </a:r>
            <a:r>
              <a:rPr sz="3200" dirty="0"/>
              <a:t> </a:t>
            </a:r>
            <a:r>
              <a:rPr sz="3200" dirty="0" err="1"/>
              <a:t>vrijednost</a:t>
            </a:r>
            <a:r>
              <a:rPr sz="3200" dirty="0"/>
              <a:t>, </a:t>
            </a:r>
            <a:r>
              <a:rPr sz="3200" dirty="0" err="1"/>
              <a:t>prekida</a:t>
            </a:r>
            <a:r>
              <a:rPr sz="3200" dirty="0"/>
              <a:t> se </a:t>
            </a:r>
            <a:r>
              <a:rPr sz="3200" dirty="0" err="1"/>
              <a:t>izvršenje</a:t>
            </a:r>
            <a:r>
              <a:rPr sz="3200" dirty="0"/>
              <a:t> </a:t>
            </a:r>
            <a:r>
              <a:rPr sz="3200" dirty="0" err="1"/>
              <a:t>tekućeg</a:t>
            </a:r>
            <a:r>
              <a:rPr sz="3200" dirty="0"/>
              <a:t> </a:t>
            </a:r>
            <a:r>
              <a:rPr sz="3200" dirty="0" err="1"/>
              <a:t>programa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755"/>
                </a:solidFill>
              </a:defRPr>
            </a:pPr>
            <a:r>
              <a:t>Zajednička svojstva mikroupravljača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42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Relativno</a:t>
            </a:r>
            <a:r>
              <a:rPr sz="2400" dirty="0"/>
              <a:t> </a:t>
            </a:r>
            <a:r>
              <a:rPr sz="2400" dirty="0" err="1"/>
              <a:t>mali</a:t>
            </a:r>
            <a:r>
              <a:rPr sz="2400" dirty="0"/>
              <a:t> </a:t>
            </a:r>
            <a:r>
              <a:rPr sz="2400" dirty="0" err="1"/>
              <a:t>radni</a:t>
            </a:r>
            <a:r>
              <a:rPr sz="2400" dirty="0"/>
              <a:t> takt – </a:t>
            </a:r>
            <a:r>
              <a:rPr sz="2400" dirty="0" err="1"/>
              <a:t>reda</a:t>
            </a:r>
            <a:r>
              <a:rPr sz="2400" dirty="0"/>
              <a:t> 10 </a:t>
            </a:r>
            <a:r>
              <a:rPr sz="2400" dirty="0" err="1"/>
              <a:t>MHz.</a:t>
            </a:r>
            <a:endParaRPr sz="2400" dirty="0"/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2400" dirty="0"/>
              <a:t>• Mali </a:t>
            </a:r>
            <a:r>
              <a:rPr sz="2400" dirty="0" err="1"/>
              <a:t>broj</a:t>
            </a:r>
            <a:r>
              <a:rPr sz="2400" dirty="0"/>
              <a:t> </a:t>
            </a:r>
            <a:r>
              <a:rPr sz="2400" dirty="0" err="1"/>
              <a:t>jednostavnih</a:t>
            </a:r>
            <a:r>
              <a:rPr sz="2400" dirty="0"/>
              <a:t> </a:t>
            </a:r>
            <a:r>
              <a:rPr sz="2400" dirty="0" err="1"/>
              <a:t>instrukcija</a:t>
            </a:r>
            <a:r>
              <a:rPr sz="2400" dirty="0"/>
              <a:t> – </a:t>
            </a:r>
            <a:r>
              <a:rPr sz="2400" dirty="0" err="1"/>
              <a:t>oko</a:t>
            </a:r>
            <a:r>
              <a:rPr sz="2400" dirty="0"/>
              <a:t> 100.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Radna</a:t>
            </a:r>
            <a:r>
              <a:rPr sz="2400" dirty="0"/>
              <a:t> </a:t>
            </a:r>
            <a:r>
              <a:rPr sz="2400" dirty="0" err="1"/>
              <a:t>memorija</a:t>
            </a:r>
            <a:r>
              <a:rPr sz="2400" dirty="0"/>
              <a:t> RAM – </a:t>
            </a:r>
            <a:r>
              <a:rPr sz="2400" dirty="0" err="1"/>
              <a:t>reda</a:t>
            </a:r>
            <a:r>
              <a:rPr sz="2400" dirty="0"/>
              <a:t> KB.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Stalna</a:t>
            </a:r>
            <a:r>
              <a:rPr sz="2400" dirty="0"/>
              <a:t> </a:t>
            </a:r>
            <a:r>
              <a:rPr sz="2400" dirty="0" err="1"/>
              <a:t>memorija</a:t>
            </a:r>
            <a:r>
              <a:rPr sz="2400" dirty="0"/>
              <a:t> s </a:t>
            </a:r>
            <a:r>
              <a:rPr sz="2400" dirty="0" err="1"/>
              <a:t>programskim</a:t>
            </a:r>
            <a:r>
              <a:rPr sz="2400" dirty="0"/>
              <a:t> </a:t>
            </a:r>
            <a:r>
              <a:rPr sz="2400" dirty="0" err="1"/>
              <a:t>kodom</a:t>
            </a:r>
            <a:r>
              <a:rPr sz="2400" dirty="0"/>
              <a:t> – PROM </a:t>
            </a:r>
            <a:r>
              <a:rPr sz="2400" dirty="0" err="1"/>
              <a:t>ili</a:t>
            </a:r>
            <a:r>
              <a:rPr sz="2400" dirty="0"/>
              <a:t> EPROM.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Brojači</a:t>
            </a:r>
            <a:r>
              <a:rPr sz="2400" dirty="0"/>
              <a:t> </a:t>
            </a:r>
            <a:r>
              <a:rPr sz="2400" dirty="0" err="1"/>
              <a:t>različitih</a:t>
            </a:r>
            <a:r>
              <a:rPr sz="2400" dirty="0"/>
              <a:t> </a:t>
            </a:r>
            <a:r>
              <a:rPr sz="2400" dirty="0" err="1"/>
              <a:t>namjena</a:t>
            </a:r>
            <a:r>
              <a:rPr sz="2400" dirty="0"/>
              <a:t>: sat, </a:t>
            </a:r>
            <a:r>
              <a:rPr sz="2400" dirty="0" err="1"/>
              <a:t>brojač</a:t>
            </a:r>
            <a:r>
              <a:rPr sz="2400" dirty="0"/>
              <a:t> </a:t>
            </a:r>
            <a:r>
              <a:rPr sz="2400" dirty="0" err="1"/>
              <a:t>impulsa</a:t>
            </a:r>
            <a:r>
              <a:rPr sz="2400" dirty="0"/>
              <a:t>, BCD </a:t>
            </a:r>
            <a:r>
              <a:rPr sz="2400" dirty="0" err="1"/>
              <a:t>brojač</a:t>
            </a:r>
            <a:r>
              <a:rPr sz="2400" dirty="0"/>
              <a:t>...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2400" dirty="0"/>
              <a:t>• WDT (Watch Dog Timer) za </a:t>
            </a:r>
            <a:r>
              <a:rPr sz="2400" dirty="0" err="1"/>
              <a:t>nadzor</a:t>
            </a:r>
            <a:r>
              <a:rPr sz="2400" dirty="0"/>
              <a:t> </a:t>
            </a:r>
            <a:r>
              <a:rPr sz="2400" dirty="0" err="1"/>
              <a:t>ispravnog</a:t>
            </a:r>
            <a:r>
              <a:rPr sz="2400" dirty="0"/>
              <a:t> rada.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2400" dirty="0"/>
              <a:t>• U/I </a:t>
            </a:r>
            <a:r>
              <a:rPr sz="2400" dirty="0" err="1"/>
              <a:t>portovi</a:t>
            </a:r>
            <a:r>
              <a:rPr sz="2400" dirty="0"/>
              <a:t> za </a:t>
            </a:r>
            <a:r>
              <a:rPr sz="2400" dirty="0" err="1"/>
              <a:t>prihvat</a:t>
            </a:r>
            <a:r>
              <a:rPr sz="2400" dirty="0"/>
              <a:t> </a:t>
            </a:r>
            <a:r>
              <a:rPr sz="2400" dirty="0" err="1"/>
              <a:t>i</a:t>
            </a:r>
            <a:r>
              <a:rPr sz="2400" dirty="0"/>
              <a:t> </a:t>
            </a:r>
            <a:r>
              <a:rPr sz="2400" dirty="0" err="1"/>
              <a:t>slanje</a:t>
            </a:r>
            <a:r>
              <a:rPr sz="2400" dirty="0"/>
              <a:t> </a:t>
            </a:r>
            <a:r>
              <a:rPr sz="2400" dirty="0" err="1"/>
              <a:t>podataka</a:t>
            </a:r>
            <a:r>
              <a:rPr sz="24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2400" dirty="0"/>
              <a:t>• A/D </a:t>
            </a:r>
            <a:r>
              <a:rPr sz="2400" dirty="0" err="1"/>
              <a:t>i</a:t>
            </a:r>
            <a:r>
              <a:rPr sz="2400" dirty="0"/>
              <a:t> D/A </a:t>
            </a:r>
            <a:r>
              <a:rPr sz="2400" dirty="0" err="1"/>
              <a:t>pretvornici</a:t>
            </a:r>
            <a:r>
              <a:rPr sz="2400" dirty="0"/>
              <a:t>, </a:t>
            </a:r>
            <a:r>
              <a:rPr sz="2400" dirty="0" err="1"/>
              <a:t>prema</a:t>
            </a:r>
            <a:r>
              <a:rPr sz="2400" dirty="0"/>
              <a:t> </a:t>
            </a:r>
            <a:r>
              <a:rPr sz="2400" dirty="0" err="1"/>
              <a:t>namjeni</a:t>
            </a:r>
            <a:r>
              <a:rPr sz="24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2400" dirty="0"/>
              <a:t>• </a:t>
            </a:r>
            <a:r>
              <a:rPr sz="2400" dirty="0" err="1"/>
              <a:t>Širok</a:t>
            </a:r>
            <a:r>
              <a:rPr sz="2400" dirty="0"/>
              <a:t> </a:t>
            </a:r>
            <a:r>
              <a:rPr sz="2400" dirty="0" err="1"/>
              <a:t>raspon</a:t>
            </a:r>
            <a:r>
              <a:rPr sz="2400" dirty="0"/>
              <a:t> </a:t>
            </a:r>
            <a:r>
              <a:rPr sz="2400" dirty="0" err="1"/>
              <a:t>napona</a:t>
            </a:r>
            <a:r>
              <a:rPr sz="2400" dirty="0"/>
              <a:t> </a:t>
            </a:r>
            <a:r>
              <a:rPr sz="2400" dirty="0" err="1"/>
              <a:t>napajanja</a:t>
            </a:r>
            <a:r>
              <a:rPr sz="24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ZAKLJUČAK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 err="1"/>
              <a:t>Mikroupravljač</a:t>
            </a:r>
            <a:r>
              <a:rPr sz="3200" dirty="0"/>
              <a:t> </a:t>
            </a:r>
            <a:r>
              <a:rPr sz="3200" dirty="0" err="1"/>
              <a:t>objedinjuje</a:t>
            </a:r>
            <a:r>
              <a:rPr sz="3200" dirty="0"/>
              <a:t> </a:t>
            </a:r>
            <a:r>
              <a:rPr sz="3200" dirty="0" err="1"/>
              <a:t>procesor</a:t>
            </a:r>
            <a:r>
              <a:rPr sz="3200" dirty="0"/>
              <a:t>, </a:t>
            </a:r>
            <a:r>
              <a:rPr sz="3200" dirty="0" err="1"/>
              <a:t>memoriju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ulazno</a:t>
            </a:r>
            <a:r>
              <a:rPr sz="3200" dirty="0"/>
              <a:t>/</a:t>
            </a:r>
            <a:r>
              <a:rPr sz="3200" dirty="0" err="1"/>
              <a:t>izlazne</a:t>
            </a:r>
            <a:r>
              <a:rPr sz="3200" dirty="0"/>
              <a:t> </a:t>
            </a:r>
            <a:r>
              <a:rPr sz="3200" dirty="0" err="1"/>
              <a:t>sklopove</a:t>
            </a:r>
            <a:r>
              <a:rPr sz="32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/>
              <a:t>Generator </a:t>
            </a:r>
            <a:r>
              <a:rPr sz="3200" dirty="0" err="1"/>
              <a:t>takta</a:t>
            </a:r>
            <a:r>
              <a:rPr sz="3200" dirty="0"/>
              <a:t>, </a:t>
            </a:r>
            <a:r>
              <a:rPr sz="3200" dirty="0" err="1"/>
              <a:t>prekidni</a:t>
            </a:r>
            <a:r>
              <a:rPr sz="3200" dirty="0"/>
              <a:t> </a:t>
            </a:r>
            <a:r>
              <a:rPr sz="3200" dirty="0" err="1"/>
              <a:t>sustav</a:t>
            </a:r>
            <a:r>
              <a:rPr sz="3200" dirty="0"/>
              <a:t>, </a:t>
            </a:r>
            <a:r>
              <a:rPr sz="3200" dirty="0" err="1"/>
              <a:t>brojila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watchdog </a:t>
            </a:r>
            <a:r>
              <a:rPr sz="3200" dirty="0" err="1"/>
              <a:t>omogućuju</a:t>
            </a:r>
            <a:r>
              <a:rPr sz="3200" dirty="0"/>
              <a:t> </a:t>
            </a:r>
            <a:r>
              <a:rPr sz="3200" dirty="0" err="1"/>
              <a:t>upravljanje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nadzor</a:t>
            </a:r>
            <a:r>
              <a:rPr sz="3200" dirty="0"/>
              <a:t> rada.</a:t>
            </a:r>
          </a:p>
          <a:p>
            <a:pPr>
              <a:spcAft>
                <a:spcPts val="1000"/>
              </a:spcAft>
              <a:defRPr sz="1900">
                <a:solidFill>
                  <a:srgbClr val="282D32"/>
                </a:solidFill>
              </a:defRPr>
            </a:pPr>
            <a:r>
              <a:rPr sz="3200" dirty="0" err="1"/>
              <a:t>Zajednička</a:t>
            </a:r>
            <a:r>
              <a:rPr sz="3200" dirty="0"/>
              <a:t> </a:t>
            </a:r>
            <a:r>
              <a:rPr sz="3200" dirty="0" err="1"/>
              <a:t>svojstva</a:t>
            </a:r>
            <a:r>
              <a:rPr sz="3200" dirty="0"/>
              <a:t> </a:t>
            </a:r>
            <a:r>
              <a:rPr sz="3200" dirty="0" err="1"/>
              <a:t>određuju</a:t>
            </a:r>
            <a:r>
              <a:rPr sz="3200" dirty="0"/>
              <a:t> </a:t>
            </a:r>
            <a:r>
              <a:rPr sz="3200" dirty="0" err="1"/>
              <a:t>osnovne</a:t>
            </a:r>
            <a:r>
              <a:rPr sz="3200" dirty="0"/>
              <a:t> </a:t>
            </a:r>
            <a:r>
              <a:rPr sz="3200" dirty="0" err="1"/>
              <a:t>mogućnosti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primjenu</a:t>
            </a:r>
            <a:r>
              <a:rPr sz="3200" dirty="0"/>
              <a:t> </a:t>
            </a:r>
            <a:r>
              <a:rPr sz="3200" dirty="0" err="1"/>
              <a:t>mikroupravljača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HVALA NA PAŽNJI!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E3755"/>
                </a:solidFill>
              </a:defRPr>
            </a:pPr>
            <a:r>
              <a:t>Hvala na pažnji!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644</Words>
  <Application>Microsoft Office PowerPoint</Application>
  <PresentationFormat>Široki zaslon</PresentationFormat>
  <Paragraphs>86</Paragraphs>
  <Slides>14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Marko Markulija</cp:lastModifiedBy>
  <cp:revision>3</cp:revision>
  <dcterms:created xsi:type="dcterms:W3CDTF">2013-01-27T09:14:16Z</dcterms:created>
  <dcterms:modified xsi:type="dcterms:W3CDTF">2026-10-06T15:40:07Z</dcterms:modified>
  <cp:category/>
</cp:coreProperties>
</file>