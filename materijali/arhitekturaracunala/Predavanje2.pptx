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ARHITEKTURA RAČUNALA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Funkcionalni opis memorije i CPU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Memorija • CPU • sabirnice • komunikacija • arhitekture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Funkcionalni opis memorije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Memorija</a:t>
            </a:r>
            <a:r>
              <a:rPr sz="3200" dirty="0"/>
              <a:t> je </a:t>
            </a:r>
            <a:r>
              <a:rPr sz="3200" dirty="0" err="1"/>
              <a:t>središnji</a:t>
            </a:r>
            <a:r>
              <a:rPr sz="3200" dirty="0"/>
              <a:t> </a:t>
            </a:r>
            <a:r>
              <a:rPr sz="3200" dirty="0" err="1"/>
              <a:t>dio</a:t>
            </a:r>
            <a:r>
              <a:rPr sz="3200" dirty="0"/>
              <a:t> </a:t>
            </a:r>
            <a:r>
              <a:rPr sz="3200" dirty="0" err="1"/>
              <a:t>računala</a:t>
            </a:r>
            <a:r>
              <a:rPr sz="3200" dirty="0"/>
              <a:t> – </a:t>
            </a:r>
            <a:r>
              <a:rPr sz="3200" dirty="0" err="1"/>
              <a:t>spremnik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Ishodište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odredište</a:t>
            </a:r>
            <a:r>
              <a:rPr sz="3200" dirty="0"/>
              <a:t> </a:t>
            </a:r>
            <a:r>
              <a:rPr sz="3200" dirty="0" err="1"/>
              <a:t>svih</a:t>
            </a:r>
            <a:r>
              <a:rPr sz="3200" dirty="0"/>
              <a:t> </a:t>
            </a:r>
            <a:r>
              <a:rPr sz="3200" dirty="0" err="1"/>
              <a:t>informacija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Sastoji</a:t>
            </a:r>
            <a:r>
              <a:rPr sz="3200" dirty="0"/>
              <a:t> se od </a:t>
            </a:r>
            <a:r>
              <a:rPr sz="3200" dirty="0" err="1"/>
              <a:t>registara</a:t>
            </a:r>
            <a:r>
              <a:rPr sz="3200" dirty="0"/>
              <a:t> (</a:t>
            </a:r>
            <a:r>
              <a:rPr sz="3200" dirty="0" err="1"/>
              <a:t>riječi</a:t>
            </a:r>
            <a:r>
              <a:rPr sz="3200" dirty="0"/>
              <a:t>) </a:t>
            </a:r>
            <a:r>
              <a:rPr sz="3200" dirty="0" err="1"/>
              <a:t>jednake</a:t>
            </a:r>
            <a:r>
              <a:rPr sz="3200" dirty="0"/>
              <a:t> </a:t>
            </a:r>
            <a:r>
              <a:rPr sz="3200" dirty="0" err="1"/>
              <a:t>duljine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Svaka</a:t>
            </a:r>
            <a:r>
              <a:rPr sz="3200" dirty="0"/>
              <a:t> </a:t>
            </a:r>
            <a:r>
              <a:rPr sz="3200" dirty="0" err="1"/>
              <a:t>riječ</a:t>
            </a:r>
            <a:r>
              <a:rPr sz="3200" dirty="0"/>
              <a:t> </a:t>
            </a:r>
            <a:r>
              <a:rPr sz="3200" dirty="0" err="1"/>
              <a:t>ima</a:t>
            </a:r>
            <a:r>
              <a:rPr sz="3200" dirty="0"/>
              <a:t> </a:t>
            </a:r>
            <a:r>
              <a:rPr sz="3200" dirty="0" err="1"/>
              <a:t>adresu</a:t>
            </a:r>
            <a:r>
              <a:rPr sz="3200" dirty="0"/>
              <a:t> </a:t>
            </a:r>
            <a:r>
              <a:rPr sz="3200" dirty="0" err="1"/>
              <a:t>koja</a:t>
            </a:r>
            <a:r>
              <a:rPr sz="3200" dirty="0"/>
              <a:t> </a:t>
            </a:r>
            <a:r>
              <a:rPr sz="3200" dirty="0" err="1"/>
              <a:t>omogućuje</a:t>
            </a:r>
            <a:r>
              <a:rPr sz="3200" dirty="0"/>
              <a:t> </a:t>
            </a:r>
            <a:r>
              <a:rPr sz="3200" dirty="0" err="1"/>
              <a:t>neposredan</a:t>
            </a:r>
            <a:r>
              <a:rPr sz="3200" dirty="0"/>
              <a:t> </a:t>
            </a:r>
            <a:r>
              <a:rPr sz="3200" dirty="0" err="1"/>
              <a:t>pristup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Kod</a:t>
            </a:r>
            <a:r>
              <a:rPr sz="3200" dirty="0"/>
              <a:t> </a:t>
            </a:r>
            <a:r>
              <a:rPr sz="3200" dirty="0" err="1"/>
              <a:t>mikroračunala</a:t>
            </a:r>
            <a:r>
              <a:rPr sz="3200" dirty="0"/>
              <a:t> </a:t>
            </a:r>
            <a:r>
              <a:rPr sz="3200" dirty="0" err="1"/>
              <a:t>poput</a:t>
            </a:r>
            <a:r>
              <a:rPr sz="3200" dirty="0"/>
              <a:t> Arduina </a:t>
            </a:r>
            <a:r>
              <a:rPr sz="3200" dirty="0" err="1"/>
              <a:t>registar</a:t>
            </a:r>
            <a:r>
              <a:rPr sz="3200" dirty="0"/>
              <a:t> je 8 </a:t>
            </a:r>
            <a:r>
              <a:rPr sz="3200" dirty="0" err="1"/>
              <a:t>bita</a:t>
            </a:r>
            <a:r>
              <a:rPr sz="3200" dirty="0"/>
              <a:t> (1 B).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Adresa memorije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Adrese</a:t>
            </a:r>
            <a:r>
              <a:rPr sz="3200" dirty="0"/>
              <a:t> </a:t>
            </a:r>
            <a:r>
              <a:rPr sz="3200" dirty="0" err="1"/>
              <a:t>memorije</a:t>
            </a:r>
            <a:r>
              <a:rPr sz="3200" dirty="0"/>
              <a:t> </a:t>
            </a:r>
            <a:r>
              <a:rPr sz="3200" dirty="0" err="1"/>
              <a:t>izražavaju</a:t>
            </a:r>
            <a:r>
              <a:rPr sz="3200" dirty="0"/>
              <a:t> se </a:t>
            </a:r>
            <a:r>
              <a:rPr sz="3200" dirty="0" err="1"/>
              <a:t>binarnim</a:t>
            </a:r>
            <a:r>
              <a:rPr sz="3200" dirty="0"/>
              <a:t> </a:t>
            </a:r>
            <a:r>
              <a:rPr sz="3200" dirty="0" err="1"/>
              <a:t>brojevima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Ako je </a:t>
            </a:r>
            <a:r>
              <a:rPr sz="3200" dirty="0" err="1"/>
              <a:t>broj</a:t>
            </a:r>
            <a:r>
              <a:rPr sz="3200" dirty="0"/>
              <a:t> </a:t>
            </a:r>
            <a:r>
              <a:rPr sz="3200" dirty="0" err="1"/>
              <a:t>bitova</a:t>
            </a:r>
            <a:r>
              <a:rPr sz="3200" dirty="0"/>
              <a:t> za </a:t>
            </a:r>
            <a:r>
              <a:rPr sz="3200" dirty="0" err="1"/>
              <a:t>adresu</a:t>
            </a:r>
            <a:r>
              <a:rPr sz="3200" dirty="0"/>
              <a:t> m, </a:t>
            </a:r>
            <a:r>
              <a:rPr sz="3200" dirty="0" err="1"/>
              <a:t>postoji</a:t>
            </a:r>
            <a:r>
              <a:rPr sz="3200" dirty="0"/>
              <a:t> 2ᵐ </a:t>
            </a:r>
            <a:r>
              <a:rPr sz="3200" dirty="0" err="1"/>
              <a:t>različitih</a:t>
            </a:r>
            <a:r>
              <a:rPr sz="3200" dirty="0"/>
              <a:t> </a:t>
            </a:r>
            <a:r>
              <a:rPr sz="3200" dirty="0" err="1"/>
              <a:t>adresa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Primjer</a:t>
            </a:r>
            <a:r>
              <a:rPr sz="3200" dirty="0"/>
              <a:t>: 2¹⁰ = 1024 = 1 K.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Adrese</a:t>
            </a:r>
            <a:r>
              <a:rPr sz="3200" dirty="0"/>
              <a:t> se </a:t>
            </a:r>
            <a:r>
              <a:rPr sz="3200" dirty="0" err="1"/>
              <a:t>mogu</a:t>
            </a:r>
            <a:r>
              <a:rPr sz="3200" dirty="0"/>
              <a:t> </a:t>
            </a:r>
            <a:r>
              <a:rPr sz="3200" dirty="0" err="1"/>
              <a:t>prikazivati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heksadecimalnim</a:t>
            </a:r>
            <a:r>
              <a:rPr sz="3200" dirty="0"/>
              <a:t> </a:t>
            </a:r>
            <a:r>
              <a:rPr sz="3200" dirty="0" err="1"/>
              <a:t>brojevima</a:t>
            </a:r>
            <a:r>
              <a:rPr sz="3200" dirty="0"/>
              <a:t> </a:t>
            </a:r>
            <a:r>
              <a:rPr sz="3200" dirty="0" err="1"/>
              <a:t>uz</a:t>
            </a:r>
            <a:r>
              <a:rPr sz="3200" dirty="0"/>
              <a:t> </a:t>
            </a:r>
            <a:r>
              <a:rPr sz="3200" dirty="0" err="1"/>
              <a:t>sufiks</a:t>
            </a:r>
            <a:r>
              <a:rPr sz="3200" dirty="0"/>
              <a:t> H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Upis i ispis u memoriju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1" y="1600200"/>
            <a:ext cx="527304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lang="hr-HR" sz="2400" dirty="0"/>
              <a:t>Upravljanje memorijom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/>
              <a:t>1. </a:t>
            </a:r>
            <a:r>
              <a:rPr sz="2400" dirty="0" err="1"/>
              <a:t>Upisati</a:t>
            </a:r>
            <a:r>
              <a:rPr sz="2400" dirty="0"/>
              <a:t> </a:t>
            </a:r>
            <a:r>
              <a:rPr sz="2400" dirty="0" err="1"/>
              <a:t>adresu</a:t>
            </a:r>
            <a:r>
              <a:rPr sz="2400" dirty="0"/>
              <a:t> u </a:t>
            </a:r>
            <a:r>
              <a:rPr sz="2400" dirty="0" err="1"/>
              <a:t>registar</a:t>
            </a:r>
            <a:r>
              <a:rPr sz="2400" dirty="0"/>
              <a:t> </a:t>
            </a:r>
            <a:r>
              <a:rPr sz="2400" dirty="0" err="1"/>
              <a:t>adrese</a:t>
            </a:r>
            <a:r>
              <a:rPr sz="24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/>
              <a:t>2. </a:t>
            </a:r>
            <a:r>
              <a:rPr sz="2400" dirty="0" err="1"/>
              <a:t>Upisati</a:t>
            </a:r>
            <a:r>
              <a:rPr sz="2400" dirty="0"/>
              <a:t> </a:t>
            </a:r>
            <a:r>
              <a:rPr sz="2400" dirty="0" err="1"/>
              <a:t>sadržaj</a:t>
            </a:r>
            <a:r>
              <a:rPr sz="2400" dirty="0"/>
              <a:t> u </a:t>
            </a:r>
            <a:r>
              <a:rPr sz="2400" dirty="0" err="1"/>
              <a:t>registar</a:t>
            </a:r>
            <a:r>
              <a:rPr sz="2400" dirty="0"/>
              <a:t> </a:t>
            </a:r>
            <a:r>
              <a:rPr sz="2400" dirty="0" err="1"/>
              <a:t>sadržaja</a:t>
            </a:r>
            <a:r>
              <a:rPr sz="24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/>
              <a:t>3. </a:t>
            </a:r>
            <a:r>
              <a:rPr sz="2400" dirty="0" err="1"/>
              <a:t>Odabrati</a:t>
            </a:r>
            <a:r>
              <a:rPr sz="2400" dirty="0"/>
              <a:t> </a:t>
            </a:r>
            <a:r>
              <a:rPr sz="2400" dirty="0" err="1"/>
              <a:t>operaciju</a:t>
            </a:r>
            <a:r>
              <a:rPr sz="2400" dirty="0"/>
              <a:t>: </a:t>
            </a:r>
            <a:r>
              <a:rPr sz="2400" dirty="0" err="1"/>
              <a:t>pohraniti</a:t>
            </a:r>
            <a:r>
              <a:rPr sz="2400" dirty="0"/>
              <a:t> </a:t>
            </a:r>
            <a:r>
              <a:rPr sz="2400" dirty="0" err="1"/>
              <a:t>ili</a:t>
            </a:r>
            <a:r>
              <a:rPr sz="2400" dirty="0"/>
              <a:t> </a:t>
            </a:r>
            <a:r>
              <a:rPr sz="2400" dirty="0" err="1"/>
              <a:t>dobaviti</a:t>
            </a:r>
            <a:r>
              <a:rPr sz="24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 err="1"/>
              <a:t>Primjer</a:t>
            </a:r>
            <a:r>
              <a:rPr sz="2400" dirty="0"/>
              <a:t> </a:t>
            </a:r>
            <a:r>
              <a:rPr sz="2400" dirty="0" err="1"/>
              <a:t>zadatka</a:t>
            </a:r>
            <a:r>
              <a:rPr sz="2400" dirty="0"/>
              <a:t>: </a:t>
            </a:r>
            <a:r>
              <a:rPr sz="2400" dirty="0" err="1"/>
              <a:t>koliko</a:t>
            </a:r>
            <a:r>
              <a:rPr sz="2400" dirty="0"/>
              <a:t> je </a:t>
            </a:r>
            <a:r>
              <a:rPr sz="2400" dirty="0" err="1"/>
              <a:t>velika</a:t>
            </a:r>
            <a:r>
              <a:rPr sz="2400" dirty="0"/>
              <a:t> </a:t>
            </a:r>
            <a:r>
              <a:rPr sz="2400" dirty="0" err="1"/>
              <a:t>memorija</a:t>
            </a:r>
            <a:r>
              <a:rPr sz="2400" dirty="0"/>
              <a:t> </a:t>
            </a:r>
            <a:r>
              <a:rPr sz="2400" dirty="0" err="1"/>
              <a:t>ako</a:t>
            </a:r>
            <a:r>
              <a:rPr sz="2400" dirty="0"/>
              <a:t> je n = 8, a m = 16?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F78160D8-47CB-4B95-5C17-7A7E7F109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405" y="731520"/>
            <a:ext cx="6458595" cy="43346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Tipovi memorije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ROM – </a:t>
            </a:r>
            <a:r>
              <a:rPr sz="3200" dirty="0" err="1"/>
              <a:t>programska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(Read Only Memory).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Flash </a:t>
            </a:r>
            <a:r>
              <a:rPr sz="3200" dirty="0" err="1"/>
              <a:t>memorija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RAM – </a:t>
            </a:r>
            <a:r>
              <a:rPr sz="3200" dirty="0" err="1"/>
              <a:t>radna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(Random Access Memory).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EEPROM – Electrically Erasable Programmable ROM.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Kod</a:t>
            </a:r>
            <a:r>
              <a:rPr sz="3200" dirty="0"/>
              <a:t> EEPROM-a </a:t>
            </a:r>
            <a:r>
              <a:rPr sz="3200" dirty="0" err="1"/>
              <a:t>sadržaj</a:t>
            </a:r>
            <a:r>
              <a:rPr sz="3200" dirty="0"/>
              <a:t> </a:t>
            </a:r>
            <a:r>
              <a:rPr sz="3200" dirty="0" err="1"/>
              <a:t>ostaje</a:t>
            </a:r>
            <a:r>
              <a:rPr sz="3200" dirty="0"/>
              <a:t> u </a:t>
            </a:r>
            <a:r>
              <a:rPr sz="3200" dirty="0" err="1"/>
              <a:t>memoriji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nakon</a:t>
            </a:r>
            <a:r>
              <a:rPr sz="3200" dirty="0"/>
              <a:t> </a:t>
            </a:r>
            <a:r>
              <a:rPr sz="3200" dirty="0" err="1"/>
              <a:t>isključenja</a:t>
            </a:r>
            <a:r>
              <a:rPr sz="3200" dirty="0"/>
              <a:t> </a:t>
            </a:r>
            <a:r>
              <a:rPr sz="3200" dirty="0" err="1"/>
              <a:t>napajanja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Radna i pomoćna memorija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20421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rPr sz="3200" dirty="0" err="1"/>
              <a:t>Radna</a:t>
            </a:r>
            <a:r>
              <a:rPr sz="3200" dirty="0"/>
              <a:t> </a:t>
            </a:r>
            <a:r>
              <a:rPr sz="3200" dirty="0" err="1"/>
              <a:t>memorija</a:t>
            </a:r>
            <a:endParaRPr lang="hr-HR" sz="32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82D32"/>
                </a:solidFill>
              </a:defRPr>
            </a:pPr>
            <a:r>
              <a:rPr sz="3200" dirty="0" err="1"/>
              <a:t>sadržaj</a:t>
            </a:r>
            <a:r>
              <a:rPr sz="3200" dirty="0"/>
              <a:t> </a:t>
            </a:r>
            <a:r>
              <a:rPr sz="3200" dirty="0" err="1"/>
              <a:t>ostaje</a:t>
            </a:r>
            <a:r>
              <a:rPr sz="3200" dirty="0"/>
              <a:t> </a:t>
            </a:r>
            <a:r>
              <a:rPr sz="3200" dirty="0" err="1"/>
              <a:t>nepromijenjen</a:t>
            </a:r>
            <a:r>
              <a:rPr sz="3200" dirty="0"/>
              <a:t> </a:t>
            </a:r>
            <a:r>
              <a:rPr sz="3200" dirty="0" err="1"/>
              <a:t>dok</a:t>
            </a:r>
            <a:r>
              <a:rPr sz="3200" dirty="0"/>
              <a:t> se </a:t>
            </a:r>
            <a:r>
              <a:rPr sz="3200" dirty="0" err="1"/>
              <a:t>na</a:t>
            </a:r>
            <a:r>
              <a:rPr sz="3200" dirty="0"/>
              <a:t> </a:t>
            </a:r>
            <a:r>
              <a:rPr sz="3200" dirty="0" err="1"/>
              <a:t>isto</a:t>
            </a:r>
            <a:r>
              <a:rPr sz="3200" dirty="0"/>
              <a:t> </a:t>
            </a:r>
            <a:r>
              <a:rPr sz="3200" dirty="0" err="1"/>
              <a:t>mjesto</a:t>
            </a:r>
            <a:r>
              <a:rPr sz="3200" dirty="0"/>
              <a:t> ne </a:t>
            </a:r>
            <a:r>
              <a:rPr sz="3200" dirty="0" err="1"/>
              <a:t>pohrani</a:t>
            </a:r>
            <a:r>
              <a:rPr sz="3200" dirty="0"/>
              <a:t> novi </a:t>
            </a:r>
            <a:r>
              <a:rPr sz="3200" dirty="0" err="1"/>
              <a:t>sadržaj</a:t>
            </a:r>
            <a:r>
              <a:rPr sz="3200" dirty="0"/>
              <a:t> </a:t>
            </a:r>
            <a:r>
              <a:rPr sz="3200" dirty="0" err="1"/>
              <a:t>ili</a:t>
            </a:r>
            <a:r>
              <a:rPr sz="3200" dirty="0"/>
              <a:t> </a:t>
            </a:r>
            <a:r>
              <a:rPr sz="3200" dirty="0" err="1"/>
              <a:t>dok</a:t>
            </a:r>
            <a:r>
              <a:rPr sz="3200" dirty="0"/>
              <a:t> se ne </a:t>
            </a:r>
            <a:r>
              <a:rPr sz="3200" dirty="0" err="1"/>
              <a:t>isključi</a:t>
            </a:r>
            <a:r>
              <a:rPr sz="3200" dirty="0"/>
              <a:t> </a:t>
            </a:r>
            <a:r>
              <a:rPr sz="3200" dirty="0" err="1"/>
              <a:t>računalo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Pomoćna</a:t>
            </a:r>
            <a:r>
              <a:rPr sz="3200" dirty="0"/>
              <a:t> </a:t>
            </a:r>
            <a:r>
              <a:rPr sz="3200" dirty="0" err="1"/>
              <a:t>ili</a:t>
            </a:r>
            <a:r>
              <a:rPr sz="3200" dirty="0"/>
              <a:t> </a:t>
            </a:r>
            <a:r>
              <a:rPr sz="3200" dirty="0" err="1"/>
              <a:t>vanjska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</a:t>
            </a:r>
            <a:endParaRPr lang="hr-HR" sz="3200" dirty="0"/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služi</a:t>
            </a:r>
            <a:r>
              <a:rPr sz="3200" dirty="0"/>
              <a:t> za </a:t>
            </a:r>
            <a:r>
              <a:rPr sz="3200" dirty="0" err="1"/>
              <a:t>trajno</a:t>
            </a:r>
            <a:r>
              <a:rPr sz="3200" dirty="0"/>
              <a:t> </a:t>
            </a:r>
            <a:r>
              <a:rPr sz="3200" dirty="0" err="1"/>
              <a:t>pamćenje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E495D46B-CE82-045E-4C74-50E676D3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411" y="1600200"/>
            <a:ext cx="5512158" cy="3378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Što se upisuje u memoriju?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Instrukcije</a:t>
            </a:r>
            <a:r>
              <a:rPr sz="3200" dirty="0"/>
              <a:t> </a:t>
            </a:r>
            <a:r>
              <a:rPr sz="3200" dirty="0" err="1"/>
              <a:t>strojnog</a:t>
            </a:r>
            <a:r>
              <a:rPr sz="3200" dirty="0"/>
              <a:t> </a:t>
            </a:r>
            <a:r>
              <a:rPr sz="3200" dirty="0" err="1"/>
              <a:t>programa</a:t>
            </a:r>
            <a:r>
              <a:rPr sz="3200" dirty="0"/>
              <a:t> </a:t>
            </a:r>
            <a:r>
              <a:rPr sz="3200" dirty="0" err="1"/>
              <a:t>računala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Osnovni</a:t>
            </a:r>
            <a:r>
              <a:rPr sz="3200" dirty="0"/>
              <a:t> </a:t>
            </a:r>
            <a:r>
              <a:rPr sz="3200" dirty="0" err="1"/>
              <a:t>tipovi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bitovi</a:t>
            </a:r>
            <a:r>
              <a:rPr sz="3200" dirty="0"/>
              <a:t> – </a:t>
            </a:r>
            <a:r>
              <a:rPr sz="3200" dirty="0" err="1"/>
              <a:t>npr</a:t>
            </a:r>
            <a:r>
              <a:rPr sz="3200" dirty="0"/>
              <a:t>. </a:t>
            </a:r>
            <a:r>
              <a:rPr sz="3200" dirty="0" err="1"/>
              <a:t>rezultati</a:t>
            </a:r>
            <a:r>
              <a:rPr sz="3200" dirty="0"/>
              <a:t> </a:t>
            </a:r>
            <a:r>
              <a:rPr sz="3200" dirty="0" err="1"/>
              <a:t>računskih</a:t>
            </a:r>
            <a:r>
              <a:rPr sz="3200" dirty="0"/>
              <a:t> </a:t>
            </a:r>
            <a:r>
              <a:rPr sz="3200" dirty="0" err="1"/>
              <a:t>operacija</a:t>
            </a:r>
            <a:endParaRPr sz="3200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brojevi</a:t>
            </a:r>
            <a:endParaRPr sz="3200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znakovi</a:t>
            </a:r>
            <a:endParaRPr sz="32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Brojevi</a:t>
            </a:r>
            <a:r>
              <a:rPr sz="3200" dirty="0"/>
              <a:t>: </a:t>
            </a:r>
            <a:r>
              <a:rPr sz="3200" dirty="0" err="1"/>
              <a:t>prirodni</a:t>
            </a:r>
            <a:r>
              <a:rPr sz="3200" dirty="0"/>
              <a:t>, </a:t>
            </a:r>
            <a:r>
              <a:rPr sz="3200" dirty="0" err="1"/>
              <a:t>cijeli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realni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755"/>
                </a:solidFill>
              </a:defRPr>
            </a:pPr>
            <a:r>
              <a:t>CPU – središnja procesorska jedinica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Instruction Decoder </a:t>
            </a:r>
            <a:endParaRPr lang="hr-HR" sz="32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prepoznaje</a:t>
            </a:r>
            <a:r>
              <a:rPr sz="3200" dirty="0"/>
              <a:t> </a:t>
            </a:r>
            <a:r>
              <a:rPr sz="3200" dirty="0" err="1"/>
              <a:t>programske</a:t>
            </a:r>
            <a:r>
              <a:rPr sz="3200" dirty="0"/>
              <a:t> </a:t>
            </a:r>
            <a:r>
              <a:rPr sz="3200" dirty="0" err="1"/>
              <a:t>instrukcije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upravlja</a:t>
            </a:r>
            <a:r>
              <a:rPr sz="3200" dirty="0"/>
              <a:t> </a:t>
            </a:r>
            <a:r>
              <a:rPr sz="3200" dirty="0" err="1"/>
              <a:t>drugim</a:t>
            </a:r>
            <a:r>
              <a:rPr sz="3200" dirty="0"/>
              <a:t> </a:t>
            </a:r>
            <a:r>
              <a:rPr sz="3200" dirty="0" err="1"/>
              <a:t>sklopovima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rPr sz="3200" dirty="0"/>
              <a:t>Instruction set </a:t>
            </a:r>
            <a:r>
              <a:rPr sz="3200" dirty="0" err="1"/>
              <a:t>izražava</a:t>
            </a:r>
            <a:r>
              <a:rPr sz="3200" dirty="0"/>
              <a:t> </a:t>
            </a:r>
            <a:r>
              <a:rPr sz="3200" dirty="0" err="1"/>
              <a:t>mogućnosti</a:t>
            </a:r>
            <a:r>
              <a:rPr sz="3200" dirty="0"/>
              <a:t> </a:t>
            </a:r>
            <a:r>
              <a:rPr sz="3200" dirty="0" err="1"/>
              <a:t>sklopa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razlikuje</a:t>
            </a:r>
            <a:r>
              <a:rPr sz="3200" dirty="0"/>
              <a:t> se </a:t>
            </a:r>
            <a:r>
              <a:rPr sz="3200" dirty="0" err="1"/>
              <a:t>među</a:t>
            </a:r>
            <a:r>
              <a:rPr sz="3200" dirty="0"/>
              <a:t> </a:t>
            </a:r>
            <a:r>
              <a:rPr sz="3200" dirty="0" err="1"/>
              <a:t>obiteljima</a:t>
            </a:r>
            <a:r>
              <a:rPr sz="3200" dirty="0"/>
              <a:t> </a:t>
            </a:r>
            <a:r>
              <a:rPr sz="3200" dirty="0" err="1"/>
              <a:t>mikrokontrolera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718CA209-895A-6B95-A51B-369B1E7C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39" y="4615288"/>
            <a:ext cx="5589431" cy="1945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ALU i registri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ALU (Arithmetical Logical Unit) </a:t>
            </a:r>
            <a:r>
              <a:rPr sz="3200" dirty="0" err="1"/>
              <a:t>izvodi</a:t>
            </a:r>
            <a:r>
              <a:rPr sz="3200" dirty="0"/>
              <a:t> </a:t>
            </a:r>
            <a:r>
              <a:rPr sz="3200" dirty="0" err="1"/>
              <a:t>matematičke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logičke</a:t>
            </a:r>
            <a:r>
              <a:rPr sz="3200" dirty="0"/>
              <a:t> </a:t>
            </a:r>
            <a:r>
              <a:rPr sz="3200" dirty="0" err="1"/>
              <a:t>operacije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A</a:t>
            </a:r>
            <a:r>
              <a:rPr lang="hr-HR" sz="3200" dirty="0" err="1"/>
              <a:t>kumulator</a:t>
            </a:r>
            <a:r>
              <a:rPr sz="3200" dirty="0"/>
              <a:t> je </a:t>
            </a:r>
            <a:r>
              <a:rPr sz="3200" dirty="0" err="1"/>
              <a:t>radni</a:t>
            </a:r>
            <a:r>
              <a:rPr sz="3200" dirty="0"/>
              <a:t> </a:t>
            </a:r>
            <a:r>
              <a:rPr sz="3200" dirty="0" err="1"/>
              <a:t>registar</a:t>
            </a:r>
            <a:r>
              <a:rPr sz="3200" dirty="0"/>
              <a:t> </a:t>
            </a:r>
            <a:r>
              <a:rPr sz="3200" dirty="0" err="1"/>
              <a:t>povezan</a:t>
            </a:r>
            <a:r>
              <a:rPr sz="3200" dirty="0"/>
              <a:t> s ALU-</a:t>
            </a:r>
            <a:r>
              <a:rPr sz="3200" dirty="0" err="1"/>
              <a:t>om.</a:t>
            </a:r>
            <a:endParaRPr sz="3200" dirty="0"/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U </a:t>
            </a:r>
            <a:r>
              <a:rPr sz="3200" dirty="0" err="1"/>
              <a:t>akumulator</a:t>
            </a:r>
            <a:r>
              <a:rPr sz="3200" dirty="0"/>
              <a:t> se </a:t>
            </a:r>
            <a:r>
              <a:rPr sz="3200" dirty="0" err="1"/>
              <a:t>spremaju</a:t>
            </a:r>
            <a:r>
              <a:rPr sz="3200" dirty="0"/>
              <a:t> </a:t>
            </a:r>
            <a:r>
              <a:rPr sz="3200" dirty="0" err="1"/>
              <a:t>podaci</a:t>
            </a:r>
            <a:r>
              <a:rPr sz="3200" dirty="0"/>
              <a:t> za </a:t>
            </a:r>
            <a:r>
              <a:rPr sz="3200" dirty="0" err="1"/>
              <a:t>obradu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rezultati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Status Register (PSW) </a:t>
            </a:r>
            <a:r>
              <a:rPr sz="3200" dirty="0" err="1"/>
              <a:t>pokazuje</a:t>
            </a:r>
            <a:r>
              <a:rPr sz="3200" dirty="0"/>
              <a:t> </a:t>
            </a:r>
            <a:r>
              <a:rPr sz="3200" dirty="0" err="1"/>
              <a:t>stanje</a:t>
            </a:r>
            <a:r>
              <a:rPr sz="3200" dirty="0"/>
              <a:t> </a:t>
            </a:r>
            <a:r>
              <a:rPr sz="3200" dirty="0" err="1"/>
              <a:t>broja</a:t>
            </a:r>
            <a:r>
              <a:rPr sz="3200" dirty="0"/>
              <a:t> u </a:t>
            </a:r>
            <a:r>
              <a:rPr sz="3200" dirty="0" err="1"/>
              <a:t>akumulatoru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Sabirnica –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Sabirnica</a:t>
            </a:r>
            <a:r>
              <a:rPr sz="3200" dirty="0"/>
              <a:t> je </a:t>
            </a:r>
            <a:r>
              <a:rPr sz="3200" dirty="0" err="1"/>
              <a:t>skup</a:t>
            </a:r>
            <a:r>
              <a:rPr sz="3200" dirty="0"/>
              <a:t> od 8, 16 </a:t>
            </a:r>
            <a:r>
              <a:rPr sz="3200" dirty="0" err="1"/>
              <a:t>ili</a:t>
            </a:r>
            <a:r>
              <a:rPr sz="3200" dirty="0"/>
              <a:t> </a:t>
            </a:r>
            <a:r>
              <a:rPr sz="3200" dirty="0" err="1"/>
              <a:t>više</a:t>
            </a:r>
            <a:r>
              <a:rPr sz="3200" dirty="0"/>
              <a:t> </a:t>
            </a:r>
            <a:r>
              <a:rPr sz="3200" dirty="0" err="1"/>
              <a:t>vodiča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Postoje</a:t>
            </a:r>
            <a:r>
              <a:rPr sz="3200" dirty="0"/>
              <a:t> </a:t>
            </a:r>
            <a:r>
              <a:rPr sz="3200" dirty="0" err="1"/>
              <a:t>adresna</a:t>
            </a:r>
            <a:r>
              <a:rPr sz="3200" dirty="0"/>
              <a:t> </a:t>
            </a:r>
            <a:r>
              <a:rPr sz="3200" dirty="0" err="1"/>
              <a:t>sabirnica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sabirnica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Adresna</a:t>
            </a:r>
            <a:r>
              <a:rPr sz="3200" dirty="0"/>
              <a:t> </a:t>
            </a:r>
            <a:r>
              <a:rPr sz="3200" dirty="0" err="1"/>
              <a:t>sabirnica</a:t>
            </a:r>
            <a:r>
              <a:rPr sz="3200" dirty="0"/>
              <a:t> </a:t>
            </a:r>
            <a:r>
              <a:rPr sz="3200" dirty="0" err="1"/>
              <a:t>ima</a:t>
            </a:r>
            <a:r>
              <a:rPr sz="3200" dirty="0"/>
              <a:t> </a:t>
            </a:r>
            <a:r>
              <a:rPr sz="3200" dirty="0" err="1"/>
              <a:t>onoliko</a:t>
            </a:r>
            <a:r>
              <a:rPr sz="3200" dirty="0"/>
              <a:t> </a:t>
            </a:r>
            <a:r>
              <a:rPr sz="3200" dirty="0" err="1"/>
              <a:t>linija</a:t>
            </a:r>
            <a:r>
              <a:rPr sz="3200" dirty="0"/>
              <a:t> </a:t>
            </a:r>
            <a:r>
              <a:rPr sz="3200" dirty="0" err="1"/>
              <a:t>koliko</a:t>
            </a:r>
            <a:r>
              <a:rPr sz="3200" dirty="0"/>
              <a:t> je </a:t>
            </a:r>
            <a:r>
              <a:rPr sz="3200" dirty="0" err="1"/>
              <a:t>potrebno</a:t>
            </a:r>
            <a:r>
              <a:rPr sz="3200" dirty="0"/>
              <a:t> za </a:t>
            </a:r>
            <a:r>
              <a:rPr sz="3200" dirty="0" err="1"/>
              <a:t>adresiranje</a:t>
            </a:r>
            <a:r>
              <a:rPr sz="3200" dirty="0"/>
              <a:t> </a:t>
            </a:r>
            <a:r>
              <a:rPr sz="3200" dirty="0" err="1"/>
              <a:t>memorije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Sabirnica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 </a:t>
            </a:r>
            <a:r>
              <a:rPr sz="3200" dirty="0" err="1"/>
              <a:t>široka</a:t>
            </a:r>
            <a:r>
              <a:rPr sz="3200" dirty="0"/>
              <a:t> je </a:t>
            </a:r>
            <a:r>
              <a:rPr sz="3200" dirty="0" err="1"/>
              <a:t>koliko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podatak</a:t>
            </a:r>
            <a:r>
              <a:rPr sz="3200" dirty="0"/>
              <a:t>; u </a:t>
            </a:r>
            <a:r>
              <a:rPr sz="3200" dirty="0" err="1"/>
              <a:t>primjeru</a:t>
            </a:r>
            <a:r>
              <a:rPr sz="3200" dirty="0"/>
              <a:t> 8 </a:t>
            </a:r>
            <a:r>
              <a:rPr sz="3200" dirty="0" err="1"/>
              <a:t>bita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Serijska komunikacija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6413582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Serijska</a:t>
            </a:r>
            <a:r>
              <a:rPr sz="3200" dirty="0"/>
              <a:t> </a:t>
            </a:r>
            <a:r>
              <a:rPr sz="3200" dirty="0" err="1"/>
              <a:t>veza</a:t>
            </a:r>
            <a:r>
              <a:rPr sz="3200" dirty="0"/>
              <a:t> </a:t>
            </a:r>
            <a:r>
              <a:rPr sz="3200" dirty="0" err="1"/>
              <a:t>koristi</a:t>
            </a:r>
            <a:r>
              <a:rPr sz="3200" dirty="0"/>
              <a:t> se </a:t>
            </a:r>
            <a:r>
              <a:rPr sz="3200" dirty="0" err="1"/>
              <a:t>kada</a:t>
            </a:r>
            <a:r>
              <a:rPr sz="3200" dirty="0"/>
              <a:t> je </a:t>
            </a:r>
            <a:r>
              <a:rPr sz="3200" dirty="0" err="1"/>
              <a:t>komunikacija</a:t>
            </a:r>
            <a:r>
              <a:rPr sz="3200" dirty="0"/>
              <a:t> </a:t>
            </a:r>
            <a:r>
              <a:rPr sz="3200" dirty="0" err="1"/>
              <a:t>na</a:t>
            </a:r>
            <a:r>
              <a:rPr sz="3200" dirty="0"/>
              <a:t> </a:t>
            </a:r>
            <a:r>
              <a:rPr sz="3200" dirty="0" err="1"/>
              <a:t>većim</a:t>
            </a:r>
            <a:r>
              <a:rPr sz="3200" dirty="0"/>
              <a:t> </a:t>
            </a:r>
            <a:r>
              <a:rPr sz="3200" dirty="0" err="1"/>
              <a:t>udaljenostima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Važni</a:t>
            </a:r>
            <a:r>
              <a:rPr sz="3200" dirty="0"/>
              <a:t> </a:t>
            </a:r>
            <a:r>
              <a:rPr sz="3200" dirty="0" err="1"/>
              <a:t>čimbenici</a:t>
            </a:r>
            <a:r>
              <a:rPr sz="3200" dirty="0"/>
              <a:t>:</a:t>
            </a:r>
          </a:p>
          <a:p>
            <a:pPr lvl="1"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broj</a:t>
            </a:r>
            <a:r>
              <a:rPr sz="3200" dirty="0"/>
              <a:t> </a:t>
            </a:r>
            <a:r>
              <a:rPr sz="3200" dirty="0" err="1"/>
              <a:t>uređaja</a:t>
            </a:r>
            <a:endParaRPr sz="3200" dirty="0"/>
          </a:p>
          <a:p>
            <a:pPr lvl="1"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potrebna</a:t>
            </a:r>
            <a:r>
              <a:rPr sz="3200" dirty="0"/>
              <a:t> </a:t>
            </a:r>
            <a:r>
              <a:rPr sz="3200" dirty="0" err="1"/>
              <a:t>brzina</a:t>
            </a:r>
            <a:r>
              <a:rPr sz="3200" dirty="0"/>
              <a:t> </a:t>
            </a:r>
            <a:r>
              <a:rPr sz="3200" dirty="0" err="1"/>
              <a:t>prijenosa</a:t>
            </a:r>
            <a:endParaRPr sz="3200" dirty="0"/>
          </a:p>
          <a:p>
            <a:pPr lvl="1"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udaljenost</a:t>
            </a:r>
            <a:r>
              <a:rPr sz="3200" dirty="0"/>
              <a:t> </a:t>
            </a:r>
            <a:r>
              <a:rPr sz="3200" dirty="0" err="1"/>
              <a:t>između</a:t>
            </a:r>
            <a:r>
              <a:rPr sz="3200" dirty="0"/>
              <a:t> </a:t>
            </a:r>
            <a:r>
              <a:rPr sz="3200" dirty="0" err="1"/>
              <a:t>uređaja</a:t>
            </a:r>
            <a:endParaRPr sz="3200" dirty="0"/>
          </a:p>
          <a:p>
            <a:pPr lvl="1"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• </a:t>
            </a:r>
            <a:r>
              <a:rPr sz="3200" dirty="0" err="1"/>
              <a:t>istovremeno</a:t>
            </a:r>
            <a:r>
              <a:rPr sz="3200" dirty="0"/>
              <a:t> </a:t>
            </a:r>
            <a:r>
              <a:rPr sz="3200" dirty="0" err="1"/>
              <a:t>slanje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primanje</a:t>
            </a:r>
            <a:r>
              <a:rPr sz="3200" dirty="0"/>
              <a:t> </a:t>
            </a:r>
            <a:r>
              <a:rPr sz="3200" dirty="0" err="1"/>
              <a:t>podataka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FBCA65D0-E7D8-E8BA-86B7-8AC356C8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951" y="1143000"/>
            <a:ext cx="5203065" cy="3949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Brzina i protokoli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Baud Rate – </a:t>
            </a:r>
            <a:r>
              <a:rPr sz="3200" dirty="0" err="1"/>
              <a:t>preneseni</a:t>
            </a:r>
            <a:r>
              <a:rPr sz="3200" dirty="0"/>
              <a:t> </a:t>
            </a:r>
            <a:r>
              <a:rPr sz="3200" dirty="0" err="1"/>
              <a:t>bitovi</a:t>
            </a:r>
            <a:r>
              <a:rPr sz="3200" dirty="0"/>
              <a:t> u </a:t>
            </a:r>
            <a:r>
              <a:rPr sz="3200" dirty="0" err="1"/>
              <a:t>sekundi</a:t>
            </a:r>
            <a:r>
              <a:rPr sz="3200" dirty="0"/>
              <a:t> (bps).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Kod</a:t>
            </a:r>
            <a:r>
              <a:rPr sz="3200" dirty="0"/>
              <a:t> </a:t>
            </a:r>
            <a:r>
              <a:rPr sz="3200" dirty="0" err="1"/>
              <a:t>serijske</a:t>
            </a:r>
            <a:r>
              <a:rPr sz="3200" dirty="0"/>
              <a:t> </a:t>
            </a:r>
            <a:r>
              <a:rPr sz="3200" dirty="0" err="1"/>
              <a:t>komunikacije</a:t>
            </a:r>
            <a:r>
              <a:rPr sz="3200" dirty="0"/>
              <a:t> </a:t>
            </a:r>
            <a:r>
              <a:rPr sz="3200" dirty="0" err="1"/>
              <a:t>mjeri</a:t>
            </a:r>
            <a:r>
              <a:rPr sz="3200" dirty="0"/>
              <a:t> se bit, a ne </a:t>
            </a:r>
            <a:r>
              <a:rPr sz="3200" dirty="0" err="1"/>
              <a:t>bajt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Primjeri</a:t>
            </a:r>
            <a:r>
              <a:rPr sz="3200" dirty="0"/>
              <a:t> </a:t>
            </a:r>
            <a:r>
              <a:rPr sz="3200" dirty="0" err="1"/>
              <a:t>su</a:t>
            </a:r>
            <a:r>
              <a:rPr sz="3200" dirty="0"/>
              <a:t> I2C, SPI </a:t>
            </a:r>
            <a:r>
              <a:rPr sz="3200" dirty="0" err="1"/>
              <a:t>i</a:t>
            </a:r>
            <a:r>
              <a:rPr sz="3200" dirty="0"/>
              <a:t> UART.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Jedan </a:t>
            </a:r>
            <a:r>
              <a:rPr sz="3200" dirty="0" err="1"/>
              <a:t>bajt</a:t>
            </a:r>
            <a:r>
              <a:rPr sz="3200" dirty="0"/>
              <a:t> </a:t>
            </a:r>
            <a:r>
              <a:rPr sz="3200" dirty="0" err="1"/>
              <a:t>može</a:t>
            </a:r>
            <a:r>
              <a:rPr sz="3200" dirty="0"/>
              <a:t> </a:t>
            </a:r>
            <a:r>
              <a:rPr sz="3200" dirty="0" err="1"/>
              <a:t>sadržavati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dodatne</a:t>
            </a:r>
            <a:r>
              <a:rPr sz="3200" dirty="0"/>
              <a:t> </a:t>
            </a:r>
            <a:r>
              <a:rPr sz="3200" dirty="0" err="1"/>
              <a:t>kontrolne</a:t>
            </a:r>
            <a:r>
              <a:rPr sz="3200" dirty="0"/>
              <a:t> </a:t>
            </a:r>
            <a:r>
              <a:rPr sz="3200" dirty="0" err="1"/>
              <a:t>bitove</a:t>
            </a:r>
            <a:r>
              <a:rPr sz="3200" dirty="0"/>
              <a:t>, </a:t>
            </a:r>
            <a:r>
              <a:rPr sz="3200" dirty="0" err="1"/>
              <a:t>ovisno</a:t>
            </a:r>
            <a:r>
              <a:rPr sz="3200" dirty="0"/>
              <a:t> o </a:t>
            </a:r>
            <a:r>
              <a:rPr sz="3200" dirty="0" err="1"/>
              <a:t>protokolu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I2C komunikacija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 err="1"/>
              <a:t>Namijenjena</a:t>
            </a:r>
            <a:r>
              <a:rPr sz="2400" dirty="0"/>
              <a:t> je </a:t>
            </a:r>
            <a:r>
              <a:rPr sz="2400" dirty="0" err="1"/>
              <a:t>kratkim</a:t>
            </a:r>
            <a:r>
              <a:rPr sz="2400" dirty="0"/>
              <a:t> </a:t>
            </a:r>
            <a:r>
              <a:rPr sz="2400" dirty="0" err="1"/>
              <a:t>udaljenostima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specijaliziranim</a:t>
            </a:r>
            <a:r>
              <a:rPr sz="2400" dirty="0"/>
              <a:t> </a:t>
            </a:r>
            <a:r>
              <a:rPr sz="2400" dirty="0" err="1"/>
              <a:t>integriranim</a:t>
            </a:r>
            <a:r>
              <a:rPr sz="2400" dirty="0"/>
              <a:t> </a:t>
            </a:r>
            <a:r>
              <a:rPr sz="2400" dirty="0" err="1"/>
              <a:t>sklopovima</a:t>
            </a:r>
            <a:r>
              <a:rPr sz="24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 err="1"/>
              <a:t>Koriste</a:t>
            </a:r>
            <a:r>
              <a:rPr sz="2400" dirty="0"/>
              <a:t> se </a:t>
            </a:r>
            <a:r>
              <a:rPr sz="2400" dirty="0" err="1"/>
              <a:t>dva</a:t>
            </a:r>
            <a:r>
              <a:rPr sz="2400" dirty="0"/>
              <a:t> </a:t>
            </a:r>
            <a:r>
              <a:rPr sz="2400" dirty="0" err="1"/>
              <a:t>vodiča</a:t>
            </a:r>
            <a:r>
              <a:rPr sz="2400" dirty="0"/>
              <a:t>: </a:t>
            </a:r>
            <a:r>
              <a:rPr sz="2400" dirty="0" err="1"/>
              <a:t>podatkovni</a:t>
            </a:r>
            <a:r>
              <a:rPr sz="2400" dirty="0"/>
              <a:t>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sinkronizacijski</a:t>
            </a:r>
            <a:r>
              <a:rPr sz="2400" dirty="0"/>
              <a:t> (clock).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/>
              <a:t>Jedan </a:t>
            </a:r>
            <a:r>
              <a:rPr sz="2400" dirty="0" err="1"/>
              <a:t>uređaj</a:t>
            </a:r>
            <a:r>
              <a:rPr sz="2400" dirty="0"/>
              <a:t> je master </a:t>
            </a:r>
            <a:r>
              <a:rPr sz="2400" dirty="0" err="1"/>
              <a:t>i</a:t>
            </a:r>
            <a:r>
              <a:rPr sz="2400" dirty="0"/>
              <a:t> </a:t>
            </a:r>
            <a:r>
              <a:rPr sz="2400" dirty="0" err="1"/>
              <a:t>prije</a:t>
            </a:r>
            <a:r>
              <a:rPr sz="2400" dirty="0"/>
              <a:t> </a:t>
            </a:r>
            <a:r>
              <a:rPr sz="2400" dirty="0" err="1"/>
              <a:t>komunikacije</a:t>
            </a:r>
            <a:r>
              <a:rPr sz="2400" dirty="0"/>
              <a:t> </a:t>
            </a:r>
            <a:r>
              <a:rPr sz="2400" dirty="0" err="1"/>
              <a:t>adresira</a:t>
            </a:r>
            <a:r>
              <a:rPr sz="2400" dirty="0"/>
              <a:t> slave </a:t>
            </a:r>
            <a:r>
              <a:rPr sz="2400" dirty="0" err="1"/>
              <a:t>uređaj</a:t>
            </a:r>
            <a:r>
              <a:rPr sz="24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400" dirty="0"/>
              <a:t>U </a:t>
            </a:r>
            <a:r>
              <a:rPr sz="2400" dirty="0" err="1"/>
              <a:t>materijalu</a:t>
            </a:r>
            <a:r>
              <a:rPr sz="2400" dirty="0"/>
              <a:t> je </a:t>
            </a:r>
            <a:r>
              <a:rPr sz="2400" dirty="0" err="1"/>
              <a:t>navedena</a:t>
            </a:r>
            <a:r>
              <a:rPr sz="2400" dirty="0"/>
              <a:t> </a:t>
            </a:r>
            <a:r>
              <a:rPr sz="2400" dirty="0" err="1"/>
              <a:t>mogućnost</a:t>
            </a:r>
            <a:r>
              <a:rPr sz="2400" dirty="0"/>
              <a:t> </a:t>
            </a:r>
            <a:r>
              <a:rPr sz="2400" dirty="0" err="1"/>
              <a:t>komunikacije</a:t>
            </a:r>
            <a:r>
              <a:rPr sz="2400" dirty="0"/>
              <a:t> s 112 </a:t>
            </a:r>
            <a:r>
              <a:rPr sz="2400" dirty="0" err="1"/>
              <a:t>uređaja</a:t>
            </a:r>
            <a:r>
              <a:rPr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6164A710-B649-451A-C802-E43FE4BBC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159" y="3840480"/>
            <a:ext cx="7167163" cy="2535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SPI komunikacija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rPr sz="3200" dirty="0"/>
              <a:t>SPI </a:t>
            </a:r>
            <a:r>
              <a:rPr sz="3200" dirty="0" err="1"/>
              <a:t>koristi</a:t>
            </a:r>
            <a:r>
              <a:rPr sz="3200" dirty="0"/>
              <a:t> </a:t>
            </a:r>
            <a:r>
              <a:rPr sz="3200" dirty="0" err="1"/>
              <a:t>četiri</a:t>
            </a:r>
            <a:r>
              <a:rPr sz="3200" dirty="0"/>
              <a:t> </a:t>
            </a:r>
            <a:r>
              <a:rPr sz="3200" dirty="0" err="1"/>
              <a:t>vodiča</a:t>
            </a:r>
            <a:r>
              <a:rPr sz="3200" dirty="0"/>
              <a:t> (</a:t>
            </a:r>
            <a:r>
              <a:rPr sz="3200" dirty="0" err="1"/>
              <a:t>obično</a:t>
            </a:r>
            <a:r>
              <a:rPr sz="3200" dirty="0"/>
              <a:t> tri): </a:t>
            </a:r>
            <a:r>
              <a:rPr sz="3200" dirty="0" err="1"/>
              <a:t>prijem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, </a:t>
            </a:r>
            <a:r>
              <a:rPr sz="3200" dirty="0" err="1"/>
              <a:t>slanje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, </a:t>
            </a:r>
            <a:r>
              <a:rPr sz="3200" dirty="0" err="1"/>
              <a:t>sinkronizacija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odabir</a:t>
            </a:r>
            <a:r>
              <a:rPr sz="3200" dirty="0"/>
              <a:t> </a:t>
            </a:r>
            <a:r>
              <a:rPr sz="3200" dirty="0" err="1"/>
              <a:t>uređaja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/>
              <a:t>Full duplex – </a:t>
            </a:r>
            <a:r>
              <a:rPr sz="3200" dirty="0" err="1"/>
              <a:t>podaci</a:t>
            </a:r>
            <a:r>
              <a:rPr sz="3200" dirty="0"/>
              <a:t> se </a:t>
            </a:r>
            <a:r>
              <a:rPr sz="3200" dirty="0" err="1"/>
              <a:t>šalju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primaju</a:t>
            </a:r>
            <a:r>
              <a:rPr sz="3200" dirty="0"/>
              <a:t> </a:t>
            </a:r>
            <a:r>
              <a:rPr sz="3200" dirty="0" err="1"/>
              <a:t>istovremeno</a:t>
            </a:r>
            <a:r>
              <a:rPr sz="32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3200" dirty="0" err="1"/>
              <a:t>Maksimalna</a:t>
            </a:r>
            <a:r>
              <a:rPr sz="3200" dirty="0"/>
              <a:t> </a:t>
            </a:r>
            <a:r>
              <a:rPr sz="3200" dirty="0" err="1"/>
              <a:t>brzina</a:t>
            </a:r>
            <a:r>
              <a:rPr sz="3200" dirty="0"/>
              <a:t> </a:t>
            </a:r>
            <a:r>
              <a:rPr sz="3200" dirty="0" err="1"/>
              <a:t>prijenosa</a:t>
            </a:r>
            <a:r>
              <a:rPr sz="3200" dirty="0"/>
              <a:t> </a:t>
            </a:r>
            <a:r>
              <a:rPr sz="3200" dirty="0" err="1"/>
              <a:t>veća</a:t>
            </a:r>
            <a:r>
              <a:rPr sz="3200" dirty="0"/>
              <a:t> je </a:t>
            </a:r>
            <a:r>
              <a:rPr sz="3200" dirty="0" err="1"/>
              <a:t>nego</a:t>
            </a:r>
            <a:r>
              <a:rPr sz="3200" dirty="0"/>
              <a:t> </a:t>
            </a:r>
            <a:r>
              <a:rPr sz="3200" dirty="0" err="1"/>
              <a:t>kod</a:t>
            </a:r>
            <a:r>
              <a:rPr sz="3200" dirty="0"/>
              <a:t> I2C </a:t>
            </a:r>
            <a:r>
              <a:rPr sz="3200" dirty="0" err="1"/>
              <a:t>veze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4A07B6A7-5BF6-A980-F369-14FCC89AC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038" y="4107240"/>
            <a:ext cx="6068859" cy="25431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Oscilator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4850253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800" dirty="0" err="1"/>
              <a:t>Oscilator</a:t>
            </a:r>
            <a:r>
              <a:rPr sz="2800" dirty="0"/>
              <a:t> </a:t>
            </a:r>
            <a:r>
              <a:rPr sz="2800" dirty="0" err="1"/>
              <a:t>određuje</a:t>
            </a:r>
            <a:r>
              <a:rPr sz="2800" dirty="0"/>
              <a:t> takt rada </a:t>
            </a:r>
            <a:r>
              <a:rPr sz="2800" dirty="0" err="1"/>
              <a:t>mikrokontrolera</a:t>
            </a:r>
            <a:r>
              <a:rPr sz="28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800" dirty="0" err="1"/>
              <a:t>Primjer</a:t>
            </a:r>
            <a:r>
              <a:rPr sz="2800" dirty="0"/>
              <a:t>: 16 MHz </a:t>
            </a:r>
            <a:r>
              <a:rPr sz="2800" dirty="0" err="1"/>
              <a:t>kristalni</a:t>
            </a:r>
            <a:r>
              <a:rPr sz="2800" dirty="0"/>
              <a:t> </a:t>
            </a:r>
            <a:r>
              <a:rPr sz="2800" dirty="0" err="1"/>
              <a:t>oscilator</a:t>
            </a:r>
            <a:r>
              <a:rPr sz="2800" dirty="0"/>
              <a:t>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sz="2800" dirty="0" err="1"/>
              <a:t>Impulsi</a:t>
            </a:r>
            <a:r>
              <a:rPr sz="2800" dirty="0"/>
              <a:t> </a:t>
            </a:r>
            <a:r>
              <a:rPr sz="2800" dirty="0" err="1"/>
              <a:t>omogućuju</a:t>
            </a:r>
            <a:r>
              <a:rPr sz="2800" dirty="0"/>
              <a:t> </a:t>
            </a:r>
            <a:r>
              <a:rPr sz="2800" dirty="0" err="1"/>
              <a:t>usklađen</a:t>
            </a:r>
            <a:r>
              <a:rPr sz="2800" dirty="0"/>
              <a:t> </a:t>
            </a:r>
            <a:r>
              <a:rPr sz="2800" dirty="0" err="1"/>
              <a:t>i</a:t>
            </a:r>
            <a:r>
              <a:rPr sz="2800" dirty="0"/>
              <a:t> </a:t>
            </a:r>
            <a:r>
              <a:rPr sz="2800" dirty="0" err="1"/>
              <a:t>sinkroniziran</a:t>
            </a:r>
            <a:r>
              <a:rPr sz="2800" dirty="0"/>
              <a:t> rad </a:t>
            </a:r>
            <a:r>
              <a:rPr sz="2800" dirty="0" err="1"/>
              <a:t>sklopova</a:t>
            </a:r>
            <a:r>
              <a:rPr sz="2800" dirty="0"/>
              <a:t>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rPr sz="2800" dirty="0" err="1"/>
              <a:t>Instrukcije</a:t>
            </a:r>
            <a:r>
              <a:rPr sz="2800" dirty="0"/>
              <a:t> se ne </a:t>
            </a:r>
            <a:r>
              <a:rPr sz="2800" dirty="0" err="1"/>
              <a:t>izvršavaju</a:t>
            </a:r>
            <a:r>
              <a:rPr sz="2800" dirty="0"/>
              <a:t> </a:t>
            </a:r>
            <a:r>
              <a:rPr sz="2800" dirty="0" err="1"/>
              <a:t>nužno</a:t>
            </a:r>
            <a:r>
              <a:rPr sz="2800" dirty="0"/>
              <a:t> </a:t>
            </a:r>
            <a:r>
              <a:rPr sz="2800" dirty="0" err="1"/>
              <a:t>brzinom</a:t>
            </a:r>
            <a:r>
              <a:rPr sz="2800" dirty="0"/>
              <a:t> </a:t>
            </a:r>
            <a:r>
              <a:rPr sz="2800" dirty="0" err="1"/>
              <a:t>oscilatora</a:t>
            </a:r>
            <a:r>
              <a:rPr sz="2800" dirty="0"/>
              <a:t> </a:t>
            </a:r>
            <a:r>
              <a:rPr sz="2800" dirty="0" err="1"/>
              <a:t>jer</a:t>
            </a:r>
            <a:r>
              <a:rPr sz="2800" dirty="0"/>
              <a:t> se </a:t>
            </a:r>
            <a:r>
              <a:rPr sz="2800" dirty="0" err="1"/>
              <a:t>svaka</a:t>
            </a:r>
            <a:r>
              <a:rPr sz="2800" dirty="0"/>
              <a:t> </a:t>
            </a:r>
            <a:r>
              <a:rPr sz="2800" dirty="0" err="1"/>
              <a:t>instrukcija</a:t>
            </a:r>
            <a:r>
              <a:rPr sz="2800" dirty="0"/>
              <a:t> </a:t>
            </a:r>
            <a:r>
              <a:rPr sz="2800" dirty="0" err="1"/>
              <a:t>izvodi</a:t>
            </a:r>
            <a:r>
              <a:rPr sz="2800" dirty="0"/>
              <a:t> u </a:t>
            </a:r>
            <a:r>
              <a:rPr sz="2800" dirty="0" err="1"/>
              <a:t>više</a:t>
            </a:r>
            <a:r>
              <a:rPr sz="2800" dirty="0"/>
              <a:t> </a:t>
            </a:r>
            <a:r>
              <a:rPr sz="2800" dirty="0" err="1"/>
              <a:t>koraka</a:t>
            </a:r>
            <a:r>
              <a:rPr sz="28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3630015E-0FCA-3FE9-C4ED-014F924E7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283" y="1805129"/>
            <a:ext cx="6078828" cy="34306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Tajmeri i brojači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391027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lang="hr-HR" dirty="0"/>
              <a:t>Tajmer – broji impulse koje daje k</a:t>
            </a:r>
            <a:r>
              <a:rPr dirty="0" err="1"/>
              <a:t>varcni</a:t>
            </a:r>
            <a:r>
              <a:rPr dirty="0"/>
              <a:t> </a:t>
            </a:r>
            <a:r>
              <a:rPr dirty="0" err="1"/>
              <a:t>kristal</a:t>
            </a:r>
            <a:r>
              <a:rPr dirty="0"/>
              <a:t> </a:t>
            </a:r>
            <a:r>
              <a:rPr lang="hr-HR" dirty="0"/>
              <a:t>(omogućuje generiranje</a:t>
            </a:r>
            <a:r>
              <a:rPr dirty="0"/>
              <a:t> </a:t>
            </a:r>
            <a:r>
              <a:rPr dirty="0" err="1"/>
              <a:t>stabiln</a:t>
            </a:r>
            <a:r>
              <a:rPr lang="hr-HR" dirty="0"/>
              <a:t>ih</a:t>
            </a:r>
            <a:r>
              <a:rPr dirty="0"/>
              <a:t> impulse</a:t>
            </a:r>
            <a:r>
              <a:rPr lang="hr-HR" dirty="0" err="1"/>
              <a:t>va</a:t>
            </a:r>
            <a:r>
              <a:rPr dirty="0"/>
              <a:t> </a:t>
            </a:r>
            <a:r>
              <a:rPr dirty="0" err="1"/>
              <a:t>jednake</a:t>
            </a:r>
            <a:r>
              <a:rPr dirty="0"/>
              <a:t> </a:t>
            </a:r>
            <a:r>
              <a:rPr dirty="0" err="1"/>
              <a:t>širine</a:t>
            </a:r>
            <a:r>
              <a:rPr lang="hr-HR" dirty="0"/>
              <a:t>)</a:t>
            </a:r>
            <a:endParaRPr dirty="0"/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rPr lang="hr-HR" dirty="0"/>
              <a:t>Primjer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dirty="0"/>
              <a:t>Za </a:t>
            </a:r>
            <a:r>
              <a:rPr dirty="0" err="1"/>
              <a:t>mjerenje</a:t>
            </a:r>
            <a:r>
              <a:rPr dirty="0"/>
              <a:t> </a:t>
            </a:r>
            <a:r>
              <a:rPr dirty="0" err="1"/>
              <a:t>vremena</a:t>
            </a:r>
            <a:r>
              <a:rPr dirty="0"/>
              <a:t> </a:t>
            </a:r>
            <a:r>
              <a:rPr dirty="0" err="1"/>
              <a:t>između</a:t>
            </a:r>
            <a:r>
              <a:rPr dirty="0"/>
              <a:t> </a:t>
            </a:r>
            <a:r>
              <a:rPr dirty="0" err="1"/>
              <a:t>dva</a:t>
            </a:r>
            <a:r>
              <a:rPr dirty="0"/>
              <a:t> </a:t>
            </a:r>
            <a:r>
              <a:rPr dirty="0" err="1"/>
              <a:t>događaja</a:t>
            </a:r>
            <a:r>
              <a:rPr dirty="0"/>
              <a:t> </a:t>
            </a:r>
            <a:r>
              <a:rPr dirty="0" err="1"/>
              <a:t>dovoljno</a:t>
            </a:r>
            <a:r>
              <a:rPr dirty="0"/>
              <a:t> je </a:t>
            </a:r>
            <a:r>
              <a:rPr dirty="0" err="1"/>
              <a:t>brojati</a:t>
            </a:r>
            <a:r>
              <a:rPr dirty="0"/>
              <a:t> impulse </a:t>
            </a:r>
            <a:r>
              <a:rPr dirty="0" err="1"/>
              <a:t>oscilatora</a:t>
            </a:r>
            <a:r>
              <a:rPr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dirty="0"/>
              <a:t>To je </a:t>
            </a:r>
            <a:r>
              <a:rPr dirty="0" err="1"/>
              <a:t>osnovna</a:t>
            </a:r>
            <a:r>
              <a:rPr dirty="0"/>
              <a:t> </a:t>
            </a:r>
            <a:r>
              <a:rPr dirty="0" err="1"/>
              <a:t>funkcija</a:t>
            </a:r>
            <a:r>
              <a:rPr dirty="0"/>
              <a:t> </a:t>
            </a:r>
            <a:r>
              <a:rPr dirty="0" err="1"/>
              <a:t>tajmera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16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9A1E4F08-83C0-5743-DB64-FE340EF31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87" y="822960"/>
            <a:ext cx="5789335" cy="551884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Watchdog tajmer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485025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dirty="0"/>
              <a:t>Program </a:t>
            </a:r>
            <a:r>
              <a:rPr dirty="0" err="1"/>
              <a:t>mikroupravljača</a:t>
            </a:r>
            <a:r>
              <a:rPr dirty="0"/>
              <a:t> </a:t>
            </a:r>
            <a:r>
              <a:rPr dirty="0" err="1"/>
              <a:t>sastoji</a:t>
            </a:r>
            <a:r>
              <a:rPr dirty="0"/>
              <a:t> se od </a:t>
            </a:r>
            <a:r>
              <a:rPr dirty="0" err="1"/>
              <a:t>petlje</a:t>
            </a:r>
            <a:r>
              <a:rPr dirty="0"/>
              <a:t> </a:t>
            </a:r>
            <a:r>
              <a:rPr dirty="0" err="1"/>
              <a:t>koja</a:t>
            </a:r>
            <a:r>
              <a:rPr dirty="0"/>
              <a:t> se </a:t>
            </a:r>
            <a:r>
              <a:rPr dirty="0" err="1"/>
              <a:t>ponavlja</a:t>
            </a:r>
            <a:r>
              <a:rPr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dirty="0"/>
              <a:t>Program </a:t>
            </a:r>
            <a:r>
              <a:rPr dirty="0" err="1"/>
              <a:t>treba</a:t>
            </a:r>
            <a:r>
              <a:rPr dirty="0"/>
              <a:t> </a:t>
            </a:r>
            <a:r>
              <a:rPr dirty="0" err="1"/>
              <a:t>redovito</a:t>
            </a:r>
            <a:r>
              <a:rPr dirty="0"/>
              <a:t> </a:t>
            </a:r>
            <a:r>
              <a:rPr dirty="0" err="1"/>
              <a:t>resetirati</a:t>
            </a:r>
            <a:r>
              <a:rPr dirty="0"/>
              <a:t> </a:t>
            </a:r>
            <a:r>
              <a:rPr dirty="0" err="1"/>
              <a:t>stanje</a:t>
            </a:r>
            <a:r>
              <a:rPr dirty="0"/>
              <a:t> watchdog </a:t>
            </a:r>
            <a:r>
              <a:rPr dirty="0" err="1"/>
              <a:t>timera</a:t>
            </a:r>
            <a:r>
              <a:rPr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dirty="0"/>
              <a:t>Ako se program '</a:t>
            </a:r>
            <a:r>
              <a:rPr dirty="0" err="1"/>
              <a:t>zaglavi</a:t>
            </a:r>
            <a:r>
              <a:rPr dirty="0"/>
              <a:t>', </a:t>
            </a:r>
            <a:r>
              <a:rPr dirty="0" err="1"/>
              <a:t>brojač</a:t>
            </a:r>
            <a:r>
              <a:rPr dirty="0"/>
              <a:t> </a:t>
            </a:r>
            <a:r>
              <a:rPr dirty="0" err="1"/>
              <a:t>doseže</a:t>
            </a:r>
            <a:r>
              <a:rPr dirty="0"/>
              <a:t> </a:t>
            </a:r>
            <a:r>
              <a:rPr dirty="0" err="1"/>
              <a:t>maksimum</a:t>
            </a:r>
            <a:r>
              <a:rPr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dirty="0"/>
              <a:t>Tada se rad </a:t>
            </a:r>
            <a:r>
              <a:rPr dirty="0" err="1"/>
              <a:t>mikroupravljača</a:t>
            </a:r>
            <a:r>
              <a:rPr dirty="0"/>
              <a:t> </a:t>
            </a:r>
            <a:r>
              <a:rPr dirty="0" err="1"/>
              <a:t>resetira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17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89139589-1E2B-45E4-176C-FEC96C9FD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80" y="1833476"/>
            <a:ext cx="6001555" cy="37419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A/D konverter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27304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A/D </a:t>
            </a:r>
            <a:r>
              <a:rPr sz="3200" dirty="0" err="1"/>
              <a:t>konverter</a:t>
            </a:r>
            <a:r>
              <a:rPr sz="3200" dirty="0"/>
              <a:t> </a:t>
            </a:r>
            <a:r>
              <a:rPr sz="3200" dirty="0" err="1"/>
              <a:t>prevodi</a:t>
            </a:r>
            <a:r>
              <a:rPr sz="3200" dirty="0"/>
              <a:t> </a:t>
            </a:r>
            <a:r>
              <a:rPr sz="3200" dirty="0" err="1"/>
              <a:t>analogni</a:t>
            </a:r>
            <a:r>
              <a:rPr sz="3200" dirty="0"/>
              <a:t> </a:t>
            </a:r>
            <a:r>
              <a:rPr sz="3200" dirty="0" err="1"/>
              <a:t>napon</a:t>
            </a:r>
            <a:r>
              <a:rPr sz="3200" dirty="0"/>
              <a:t> u </a:t>
            </a:r>
            <a:r>
              <a:rPr sz="3200" dirty="0" err="1"/>
              <a:t>digitalni</a:t>
            </a:r>
            <a:r>
              <a:rPr sz="3200" dirty="0"/>
              <a:t> </a:t>
            </a:r>
            <a:r>
              <a:rPr sz="3200" dirty="0" err="1"/>
              <a:t>oblik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Dobiveni</a:t>
            </a:r>
            <a:r>
              <a:rPr sz="3200" dirty="0"/>
              <a:t> </a:t>
            </a:r>
            <a:r>
              <a:rPr sz="3200" dirty="0" err="1"/>
              <a:t>digitalni</a:t>
            </a:r>
            <a:r>
              <a:rPr sz="3200" dirty="0"/>
              <a:t> </a:t>
            </a:r>
            <a:r>
              <a:rPr sz="3200" dirty="0" err="1"/>
              <a:t>podatak</a:t>
            </a:r>
            <a:r>
              <a:rPr sz="3200" dirty="0"/>
              <a:t> </a:t>
            </a:r>
            <a:r>
              <a:rPr sz="3200" dirty="0" err="1"/>
              <a:t>dalje</a:t>
            </a:r>
            <a:r>
              <a:rPr sz="3200" dirty="0"/>
              <a:t> se </a:t>
            </a:r>
            <a:r>
              <a:rPr sz="3200" dirty="0" err="1"/>
              <a:t>koristi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obrađuje</a:t>
            </a:r>
            <a:r>
              <a:rPr sz="3200" dirty="0"/>
              <a:t> u </a:t>
            </a:r>
            <a:r>
              <a:rPr sz="3200" dirty="0" err="1"/>
              <a:t>programu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18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DDEF788D-9AEF-F92C-E4A4-8675C93BD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783" y="1691640"/>
            <a:ext cx="5795493" cy="40661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755"/>
                </a:solidFill>
              </a:defRPr>
            </a:pPr>
            <a:r>
              <a:t>Harvard i von-Neumann arhitektura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Mikrokontroleri koriste jedan od dva osnovna modela dizajna: Harvard i von-Neumann.</a:t>
            </a:r>
          </a:p>
          <a:p>
            <a:pPr>
              <a:spcAft>
                <a:spcPts val="1200"/>
              </a:spcAft>
              <a:defRPr sz="2000">
                <a:solidFill>
                  <a:srgbClr val="282D32"/>
                </a:solidFill>
              </a:defRPr>
            </a:pPr>
            <a:r>
              <a:t>Razlika se odnosi na način razmjene podataka između CPU-a i memorije.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19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273B12EE-1F71-8ED1-0F6F-296C80971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42605"/>
            <a:ext cx="4687910" cy="3125821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4DBC4D07-0147-DEBD-9582-840374211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265" y="3556296"/>
            <a:ext cx="2498501" cy="2341123"/>
          </a:xfrm>
          <a:prstGeom prst="rect">
            <a:avLst/>
          </a:prstGeom>
        </p:spPr>
      </p:pic>
      <p:sp>
        <p:nvSpPr>
          <p:cNvPr id="10" name="TekstniOkvir 9">
            <a:extLst>
              <a:ext uri="{FF2B5EF4-FFF2-40B4-BE49-F238E27FC236}">
                <a16:creationId xmlns:a16="http://schemas.microsoft.com/office/drawing/2014/main" id="{A7B63C7C-E2C8-CDC6-AEB9-194F208BEA64}"/>
              </a:ext>
            </a:extLst>
          </p:cNvPr>
          <p:cNvSpPr txBox="1"/>
          <p:nvPr/>
        </p:nvSpPr>
        <p:spPr>
          <a:xfrm>
            <a:off x="8530490" y="2821204"/>
            <a:ext cx="1545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Von-Neumann</a:t>
            </a:r>
          </a:p>
        </p:txBody>
      </p:sp>
      <p:sp>
        <p:nvSpPr>
          <p:cNvPr id="12" name="TekstniOkvir 11">
            <a:extLst>
              <a:ext uri="{FF2B5EF4-FFF2-40B4-BE49-F238E27FC236}">
                <a16:creationId xmlns:a16="http://schemas.microsoft.com/office/drawing/2014/main" id="{78B080A1-8C76-5FDC-41DA-20EE298E9318}"/>
              </a:ext>
            </a:extLst>
          </p:cNvPr>
          <p:cNvSpPr txBox="1"/>
          <p:nvPr/>
        </p:nvSpPr>
        <p:spPr>
          <a:xfrm>
            <a:off x="1646903" y="2807110"/>
            <a:ext cx="932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Harvard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Harvard arhitektura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Koriste</a:t>
            </a:r>
            <a:r>
              <a:rPr sz="3200" dirty="0"/>
              <a:t> se </a:t>
            </a:r>
            <a:r>
              <a:rPr sz="3200" dirty="0" err="1"/>
              <a:t>dvije</a:t>
            </a:r>
            <a:r>
              <a:rPr sz="3200" dirty="0"/>
              <a:t> </a:t>
            </a:r>
            <a:r>
              <a:rPr sz="3200" dirty="0" err="1"/>
              <a:t>sabirnice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U </a:t>
            </a:r>
            <a:r>
              <a:rPr sz="3200" dirty="0" err="1"/>
              <a:t>materijalu</a:t>
            </a:r>
            <a:r>
              <a:rPr sz="3200" dirty="0"/>
              <a:t>: 8 </a:t>
            </a:r>
            <a:r>
              <a:rPr sz="3200" dirty="0" err="1"/>
              <a:t>bita</a:t>
            </a:r>
            <a:r>
              <a:rPr sz="3200" dirty="0"/>
              <a:t> za CPU–RAM </a:t>
            </a:r>
            <a:r>
              <a:rPr sz="3200" dirty="0" err="1"/>
              <a:t>i</a:t>
            </a:r>
            <a:r>
              <a:rPr sz="3200" dirty="0"/>
              <a:t> 12, 14 </a:t>
            </a:r>
            <a:r>
              <a:rPr sz="3200" dirty="0" err="1"/>
              <a:t>ili</a:t>
            </a:r>
            <a:r>
              <a:rPr sz="3200" dirty="0"/>
              <a:t> 16 </a:t>
            </a:r>
            <a:r>
              <a:rPr sz="3200" dirty="0" err="1"/>
              <a:t>bita</a:t>
            </a:r>
            <a:r>
              <a:rPr sz="3200" dirty="0"/>
              <a:t> za CPU–ROM.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RAM </a:t>
            </a:r>
            <a:r>
              <a:rPr sz="3200" dirty="0" err="1"/>
              <a:t>i</a:t>
            </a:r>
            <a:r>
              <a:rPr sz="3200" dirty="0"/>
              <a:t> ROM </a:t>
            </a:r>
            <a:r>
              <a:rPr sz="3200" dirty="0" err="1"/>
              <a:t>su</a:t>
            </a:r>
            <a:r>
              <a:rPr sz="3200" dirty="0"/>
              <a:t> </a:t>
            </a:r>
            <a:r>
              <a:rPr sz="3200" dirty="0" err="1"/>
              <a:t>razdvojeni</a:t>
            </a:r>
            <a:r>
              <a:rPr sz="3200" dirty="0"/>
              <a:t>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Zbog</a:t>
            </a:r>
            <a:r>
              <a:rPr sz="3200" dirty="0"/>
              <a:t> </a:t>
            </a:r>
            <a:r>
              <a:rPr sz="3200" dirty="0" err="1"/>
              <a:t>odvojenih</a:t>
            </a:r>
            <a:r>
              <a:rPr sz="3200" dirty="0"/>
              <a:t> </a:t>
            </a:r>
            <a:r>
              <a:rPr sz="3200" dirty="0" err="1"/>
              <a:t>memorija</a:t>
            </a:r>
            <a:r>
              <a:rPr sz="3200" dirty="0"/>
              <a:t> </a:t>
            </a:r>
            <a:r>
              <a:rPr sz="3200" dirty="0" err="1"/>
              <a:t>mogu</a:t>
            </a:r>
            <a:r>
              <a:rPr sz="3200" dirty="0"/>
              <a:t> se </a:t>
            </a:r>
            <a:r>
              <a:rPr sz="3200" dirty="0" err="1"/>
              <a:t>izvršavati</a:t>
            </a:r>
            <a:r>
              <a:rPr sz="3200" dirty="0"/>
              <a:t> </a:t>
            </a:r>
            <a:r>
              <a:rPr sz="3200" dirty="0" err="1"/>
              <a:t>dvije</a:t>
            </a:r>
            <a:r>
              <a:rPr sz="3200" dirty="0"/>
              <a:t> </a:t>
            </a:r>
            <a:r>
              <a:rPr sz="3200" dirty="0" err="1"/>
              <a:t>instrukcije</a:t>
            </a:r>
            <a:r>
              <a:rPr sz="3200" dirty="0"/>
              <a:t> </a:t>
            </a:r>
            <a:r>
              <a:rPr sz="3200" dirty="0" err="1"/>
              <a:t>paralelno</a:t>
            </a:r>
            <a:r>
              <a:rPr sz="3200" dirty="0"/>
              <a:t>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Omogućuje</a:t>
            </a:r>
            <a:r>
              <a:rPr sz="3200" dirty="0"/>
              <a:t> </a:t>
            </a:r>
            <a:r>
              <a:rPr sz="3200" dirty="0" err="1"/>
              <a:t>točno</a:t>
            </a:r>
            <a:r>
              <a:rPr sz="3200" dirty="0"/>
              <a:t> </a:t>
            </a:r>
            <a:r>
              <a:rPr sz="3200" dirty="0" err="1"/>
              <a:t>poznavanje</a:t>
            </a:r>
            <a:r>
              <a:rPr sz="3200" dirty="0"/>
              <a:t> </a:t>
            </a:r>
            <a:r>
              <a:rPr sz="3200" dirty="0" err="1"/>
              <a:t>memorije</a:t>
            </a:r>
            <a:r>
              <a:rPr sz="3200" dirty="0"/>
              <a:t> </a:t>
            </a:r>
            <a:r>
              <a:rPr sz="3200" dirty="0" err="1"/>
              <a:t>koja</a:t>
            </a:r>
            <a:r>
              <a:rPr sz="3200" dirty="0"/>
              <a:t> </a:t>
            </a:r>
            <a:r>
              <a:rPr sz="3200" dirty="0" err="1"/>
              <a:t>će</a:t>
            </a:r>
            <a:r>
              <a:rPr sz="3200" dirty="0"/>
              <a:t> se </a:t>
            </a:r>
            <a:r>
              <a:rPr sz="3200" dirty="0" err="1"/>
              <a:t>koristiti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3755"/>
                </a:solidFill>
              </a:defRPr>
            </a:pPr>
            <a:r>
              <a:t>ZAKLJUČAK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Memorija</a:t>
            </a:r>
            <a:r>
              <a:rPr sz="3200" dirty="0"/>
              <a:t> </a:t>
            </a:r>
            <a:r>
              <a:rPr sz="3200" dirty="0" err="1"/>
              <a:t>čuva</a:t>
            </a:r>
            <a:r>
              <a:rPr sz="3200" dirty="0"/>
              <a:t> </a:t>
            </a:r>
            <a:r>
              <a:rPr sz="3200" dirty="0" err="1"/>
              <a:t>instrukcije</a:t>
            </a:r>
            <a:r>
              <a:rPr sz="3200" dirty="0"/>
              <a:t>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podatke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CPU </a:t>
            </a:r>
            <a:r>
              <a:rPr sz="3200" dirty="0" err="1"/>
              <a:t>obrađuje</a:t>
            </a:r>
            <a:r>
              <a:rPr sz="3200" dirty="0"/>
              <a:t> </a:t>
            </a:r>
            <a:r>
              <a:rPr sz="3200" dirty="0" err="1"/>
              <a:t>podatke</a:t>
            </a:r>
            <a:r>
              <a:rPr sz="3200" dirty="0"/>
              <a:t> </a:t>
            </a:r>
            <a:r>
              <a:rPr sz="3200" dirty="0" err="1"/>
              <a:t>pomoću</a:t>
            </a:r>
            <a:r>
              <a:rPr sz="3200" dirty="0"/>
              <a:t> ALU-a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registara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Sabirnice</a:t>
            </a:r>
            <a:r>
              <a:rPr sz="3200" dirty="0"/>
              <a:t> </a:t>
            </a:r>
            <a:r>
              <a:rPr sz="3200" dirty="0" err="1"/>
              <a:t>povezuju</a:t>
            </a:r>
            <a:r>
              <a:rPr sz="3200" dirty="0"/>
              <a:t> </a:t>
            </a:r>
            <a:r>
              <a:rPr sz="3200" dirty="0" err="1"/>
              <a:t>dijelove</a:t>
            </a:r>
            <a:r>
              <a:rPr sz="3200" dirty="0"/>
              <a:t> </a:t>
            </a:r>
            <a:r>
              <a:rPr sz="3200" dirty="0" err="1"/>
              <a:t>mikrokontrolera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 err="1"/>
              <a:t>Serijska</a:t>
            </a:r>
            <a:r>
              <a:rPr sz="3200" dirty="0"/>
              <a:t> </a:t>
            </a:r>
            <a:r>
              <a:rPr sz="3200" dirty="0" err="1"/>
              <a:t>komunikacija</a:t>
            </a:r>
            <a:r>
              <a:rPr sz="3200" dirty="0"/>
              <a:t> </a:t>
            </a:r>
            <a:r>
              <a:rPr sz="3200" dirty="0" err="1"/>
              <a:t>omogućuje</a:t>
            </a:r>
            <a:r>
              <a:rPr sz="3200" dirty="0"/>
              <a:t> </a:t>
            </a:r>
            <a:r>
              <a:rPr sz="3200" dirty="0" err="1"/>
              <a:t>razmjenu</a:t>
            </a:r>
            <a:r>
              <a:rPr sz="3200" dirty="0"/>
              <a:t> </a:t>
            </a:r>
            <a:r>
              <a:rPr sz="3200" dirty="0" err="1"/>
              <a:t>podataka</a:t>
            </a:r>
            <a:r>
              <a:rPr sz="3200" dirty="0"/>
              <a:t> </a:t>
            </a:r>
            <a:r>
              <a:rPr sz="3200" dirty="0" err="1"/>
              <a:t>između</a:t>
            </a:r>
            <a:r>
              <a:rPr sz="3200" dirty="0"/>
              <a:t> </a:t>
            </a:r>
            <a:r>
              <a:rPr sz="3200" dirty="0" err="1"/>
              <a:t>uređaja</a:t>
            </a:r>
            <a:r>
              <a:rPr sz="3200" dirty="0"/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82D32"/>
                </a:solidFill>
              </a:defRPr>
            </a:pPr>
            <a:r>
              <a:rPr sz="3200" dirty="0"/>
              <a:t>Harvard </a:t>
            </a:r>
            <a:r>
              <a:rPr sz="3200" dirty="0" err="1"/>
              <a:t>i</a:t>
            </a:r>
            <a:r>
              <a:rPr sz="3200" dirty="0"/>
              <a:t> von-Neumann </a:t>
            </a:r>
            <a:r>
              <a:rPr sz="3200" dirty="0" err="1"/>
              <a:t>predstavljaju</a:t>
            </a:r>
            <a:r>
              <a:rPr sz="3200" dirty="0"/>
              <a:t> </a:t>
            </a:r>
            <a:r>
              <a:rPr sz="3200" dirty="0" err="1"/>
              <a:t>različite</a:t>
            </a:r>
            <a:r>
              <a:rPr sz="3200" dirty="0"/>
              <a:t> </a:t>
            </a:r>
            <a:r>
              <a:rPr sz="3200" dirty="0" err="1"/>
              <a:t>načine</a:t>
            </a:r>
            <a:r>
              <a:rPr sz="3200" dirty="0"/>
              <a:t> </a:t>
            </a:r>
            <a:r>
              <a:rPr sz="3200" dirty="0" err="1"/>
              <a:t>razmjene</a:t>
            </a:r>
            <a:r>
              <a:rPr sz="3200" dirty="0"/>
              <a:t> CPU-a </a:t>
            </a:r>
            <a:r>
              <a:rPr sz="3200" dirty="0" err="1"/>
              <a:t>i</a:t>
            </a:r>
            <a:r>
              <a:rPr sz="3200" dirty="0"/>
              <a:t> </a:t>
            </a:r>
            <a:r>
              <a:rPr sz="3200" dirty="0" err="1"/>
              <a:t>memorije</a:t>
            </a:r>
            <a:r>
              <a:rPr sz="32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E3755"/>
                </a:solidFill>
              </a:defRPr>
            </a:pPr>
            <a:r>
              <a:t>Hvala na pažnji!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838</Words>
  <Application>Microsoft Office PowerPoint</Application>
  <PresentationFormat>Široki zaslon</PresentationFormat>
  <Paragraphs>131</Paragraphs>
  <Slides>22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2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Marko Markulija</cp:lastModifiedBy>
  <cp:revision>3</cp:revision>
  <dcterms:created xsi:type="dcterms:W3CDTF">2013-01-27T09:14:16Z</dcterms:created>
  <dcterms:modified xsi:type="dcterms:W3CDTF">2026-10-06T18:17:03Z</dcterms:modified>
  <cp:category/>
</cp:coreProperties>
</file>